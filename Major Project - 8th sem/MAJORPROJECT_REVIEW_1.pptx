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0"/>
  </p:notesMasterIdLst>
  <p:sldIdLst>
    <p:sldId id="256" r:id="rId2"/>
    <p:sldId id="259" r:id="rId3"/>
    <p:sldId id="258" r:id="rId4"/>
    <p:sldId id="272" r:id="rId5"/>
    <p:sldId id="261" r:id="rId6"/>
    <p:sldId id="284" r:id="rId7"/>
    <p:sldId id="279" r:id="rId8"/>
    <p:sldId id="269" r:id="rId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8k4vfTcigBOvi1GPtpHoS9j9j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25"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 Target="slides/slide4.xml"/><Relationship Id="rId23"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36427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6632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1822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7567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19" name="Google Shape;19;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25" name="Google Shape;2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31" name="Google Shape;3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38" name="Google Shape;3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47" name="Google Shape;4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52" name="Google Shape;5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63" name="Google Shape;6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792288" y="612775"/>
            <a:ext cx="5486400" cy="4114800"/>
          </a:xfrm>
          <a:prstGeom prst="rect">
            <a:avLst/>
          </a:prstGeom>
          <a:noFill/>
          <a:ln>
            <a:noFill/>
          </a:ln>
        </p:spPr>
      </p:sp>
      <p:sp>
        <p:nvSpPr>
          <p:cNvPr id="68" name="Google Shape;68;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70" name="Google Shape;70;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76" name="Google Shape;7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82" name="Google Shape;8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3/08/2024</a:t>
            </a:r>
            <a:endParaRPr/>
          </a:p>
        </p:txBody>
      </p:sp>
      <p:sp>
        <p:nvSpPr>
          <p:cNvPr id="56" name="Google Shape;56;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57296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3/08/2024</a:t>
            </a:r>
            <a:endParaRPr/>
          </a:p>
        </p:txBody>
      </p:sp>
      <p:sp>
        <p:nvSpPr>
          <p:cNvPr id="13" name="Google Shape;1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326571" y="2175236"/>
            <a:ext cx="8453098" cy="1981200"/>
          </a:xfrm>
          <a:prstGeom prst="rect">
            <a:avLst/>
          </a:prstGeom>
          <a:noFill/>
          <a:ln>
            <a:noFill/>
          </a:ln>
        </p:spPr>
        <p:txBody>
          <a:bodyPr spcFirstLastPara="1" wrap="square" lIns="91425" tIns="45700" rIns="91425" bIns="45700" anchor="ctr" anchorCtr="0">
            <a:normAutofit/>
          </a:bodyPr>
          <a:lstStyle/>
          <a:p>
            <a:pPr>
              <a:buSzPts val="4400"/>
            </a:pPr>
            <a:r>
              <a:rPr lang="en-US" sz="3600" dirty="0">
                <a:latin typeface="Times New Roman" panose="02020603050405020304" pitchFamily="18" charset="0"/>
                <a:cs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Real-Time Object Detection and Distance Mapping</a:t>
            </a:r>
            <a:br>
              <a:rPr lang="en-IN" sz="3600" dirty="0">
                <a:effectLst/>
                <a:latin typeface="Times New Roman" panose="02020603050405020304" pitchFamily="18" charset="0"/>
                <a:ea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p:txBody>
      </p:sp>
      <p:sp>
        <p:nvSpPr>
          <p:cNvPr id="89" name="Google Shape;89;p1"/>
          <p:cNvSpPr txBox="1">
            <a:spLocks noGrp="1"/>
          </p:cNvSpPr>
          <p:nvPr>
            <p:ph type="subTitle" idx="1"/>
          </p:nvPr>
        </p:nvSpPr>
        <p:spPr>
          <a:xfrm>
            <a:off x="4386263" y="4586288"/>
            <a:ext cx="4605337" cy="1981200"/>
          </a:xfrm>
          <a:prstGeom prst="rect">
            <a:avLst/>
          </a:prstGeom>
          <a:noFill/>
          <a:ln>
            <a:noFill/>
          </a:ln>
        </p:spPr>
        <p:txBody>
          <a:bodyPr spcFirstLastPara="1" wrap="square" lIns="91425" tIns="45700" rIns="91425" bIns="45700" anchor="t" anchorCtr="0">
            <a:normAutofit fontScale="55000" lnSpcReduction="20000"/>
          </a:bodyPr>
          <a:lstStyle/>
          <a:p>
            <a:pPr marL="0" indent="0">
              <a:spcBef>
                <a:spcPts val="0"/>
              </a:spcBef>
              <a:buSzPct val="100000"/>
            </a:pPr>
            <a:r>
              <a:rPr lang="en-US" dirty="0">
                <a:latin typeface="Times New Roman" panose="02020603050405020304" pitchFamily="18" charset="0"/>
                <a:cs typeface="Times New Roman" panose="02020603050405020304" pitchFamily="18" charset="0"/>
              </a:rPr>
              <a:t>Batch ID: 1</a:t>
            </a:r>
          </a:p>
          <a:p>
            <a:pPr marL="0" lvl="0" indent="0" algn="ctr" rtl="0">
              <a:spcBef>
                <a:spcPts val="0"/>
              </a:spcBef>
              <a:spcAft>
                <a:spcPts val="0"/>
              </a:spcAft>
              <a:buClr>
                <a:srgbClr val="888888"/>
              </a:buClr>
              <a:buSzPct val="100000"/>
              <a:buNone/>
            </a:pPr>
            <a:endParaRPr lang="en-US"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rgbClr val="888888"/>
              </a:buClr>
              <a:buSzPct val="100000"/>
              <a:buNone/>
            </a:pPr>
            <a:r>
              <a:rPr lang="en-US" dirty="0">
                <a:latin typeface="Times New Roman" panose="02020603050405020304" pitchFamily="18" charset="0"/>
                <a:cs typeface="Times New Roman" panose="02020603050405020304" pitchFamily="18" charset="0"/>
              </a:rPr>
              <a:t>Student 1 Reg. No: RA2111003011009</a:t>
            </a:r>
            <a:endParaRPr dirty="0">
              <a:latin typeface="Times New Roman" panose="02020603050405020304" pitchFamily="18" charset="0"/>
              <a:cs typeface="Times New Roman" panose="02020603050405020304" pitchFamily="18" charset="0"/>
            </a:endParaRPr>
          </a:p>
          <a:p>
            <a:pPr marL="0" indent="0">
              <a:spcBef>
                <a:spcPts val="592"/>
              </a:spcBef>
              <a:buSzPct val="100000"/>
            </a:pPr>
            <a:r>
              <a:rPr lang="en-US" dirty="0">
                <a:latin typeface="Times New Roman" panose="02020603050405020304" pitchFamily="18" charset="0"/>
                <a:cs typeface="Times New Roman" panose="02020603050405020304" pitchFamily="18" charset="0"/>
              </a:rPr>
              <a:t>Student 1 Name: KINTHALI SAKETH</a:t>
            </a:r>
          </a:p>
          <a:p>
            <a:pPr marL="0" lvl="0" indent="0" algn="ctr" rtl="0">
              <a:spcBef>
                <a:spcPts val="592"/>
              </a:spcBef>
              <a:spcAft>
                <a:spcPts val="0"/>
              </a:spcAft>
              <a:buClr>
                <a:srgbClr val="888888"/>
              </a:buClr>
              <a:buSzPct val="100000"/>
              <a:buNone/>
            </a:pPr>
            <a:endParaRPr lang="en-US" dirty="0">
              <a:latin typeface="Times New Roman" panose="02020603050405020304" pitchFamily="18" charset="0"/>
              <a:cs typeface="Times New Roman" panose="02020603050405020304" pitchFamily="18" charset="0"/>
            </a:endParaRPr>
          </a:p>
          <a:p>
            <a:pPr marL="0" lvl="0" indent="0" algn="ctr" rtl="0">
              <a:spcBef>
                <a:spcPts val="592"/>
              </a:spcBef>
              <a:spcAft>
                <a:spcPts val="0"/>
              </a:spcAft>
              <a:buClr>
                <a:srgbClr val="888888"/>
              </a:buClr>
              <a:buSzPct val="100000"/>
              <a:buNone/>
            </a:pPr>
            <a:r>
              <a:rPr lang="en-US" dirty="0">
                <a:latin typeface="Times New Roman" panose="02020603050405020304" pitchFamily="18" charset="0"/>
                <a:cs typeface="Times New Roman" panose="02020603050405020304" pitchFamily="18" charset="0"/>
              </a:rPr>
              <a:t>Student 2 Reg. No: RA2111003011033</a:t>
            </a:r>
          </a:p>
          <a:p>
            <a:pPr marL="0" lvl="0" indent="0">
              <a:spcBef>
                <a:spcPts val="592"/>
              </a:spcBef>
              <a:buSzPct val="100000"/>
            </a:pPr>
            <a:r>
              <a:rPr lang="en-US" dirty="0">
                <a:latin typeface="Times New Roman" panose="02020603050405020304" pitchFamily="18" charset="0"/>
                <a:cs typeface="Times New Roman" panose="02020603050405020304" pitchFamily="18" charset="0"/>
              </a:rPr>
              <a:t>Student 2 Name: PUDI SAI KRISHNA</a:t>
            </a:r>
            <a:endParaRPr dirty="0">
              <a:latin typeface="Times New Roman" panose="02020603050405020304" pitchFamily="18" charset="0"/>
              <a:cs typeface="Times New Roman" panose="02020603050405020304" pitchFamily="18" charset="0"/>
            </a:endParaRPr>
          </a:p>
        </p:txBody>
      </p:sp>
      <p:pic>
        <p:nvPicPr>
          <p:cNvPr id="90" name="Google Shape;90;p1"/>
          <p:cNvPicPr preferRelativeResize="0"/>
          <p:nvPr/>
        </p:nvPicPr>
        <p:blipFill rotWithShape="1">
          <a:blip r:embed="rId3">
            <a:alphaModFix/>
          </a:blip>
          <a:srcRect/>
          <a:stretch/>
        </p:blipFill>
        <p:spPr>
          <a:xfrm>
            <a:off x="228600" y="553353"/>
            <a:ext cx="1735931" cy="755015"/>
          </a:xfrm>
          <a:prstGeom prst="rect">
            <a:avLst/>
          </a:prstGeom>
          <a:noFill/>
          <a:ln>
            <a:noFill/>
          </a:ln>
        </p:spPr>
      </p:pic>
      <p:sp>
        <p:nvSpPr>
          <p:cNvPr id="91" name="Google Shape;91;p1"/>
          <p:cNvSpPr/>
          <p:nvPr/>
        </p:nvSpPr>
        <p:spPr>
          <a:xfrm>
            <a:off x="1964531" y="569724"/>
            <a:ext cx="6172200"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SRM INSTITUTE OF SCIENCE AND TECHNOLOGY </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SCHOOL OF COMPUTING</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DEPARTMENT OF COMPUTING TECHNOLOGIES</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18CSP109L - MAJOR PROJECT </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7" name="Google Shape;89;p1"/>
          <p:cNvSpPr txBox="1">
            <a:spLocks/>
          </p:cNvSpPr>
          <p:nvPr/>
        </p:nvSpPr>
        <p:spPr>
          <a:xfrm>
            <a:off x="228600" y="5243512"/>
            <a:ext cx="3471862" cy="1190625"/>
          </a:xfrm>
          <a:prstGeom prst="rect">
            <a:avLst/>
          </a:prstGeom>
          <a:noFill/>
          <a:ln>
            <a:noFill/>
          </a:ln>
        </p:spPr>
        <p:txBody>
          <a:bodyPr spcFirstLastPara="1" wrap="square" lIns="91425" tIns="45700" rIns="91425" bIns="45700" anchor="t" anchorCtr="0">
            <a:normAutofit fontScale="40000" lnSpcReduction="20000"/>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nSpc>
                <a:spcPct val="170000"/>
              </a:lnSpc>
              <a:spcBef>
                <a:spcPts val="592"/>
              </a:spcBef>
              <a:buSzPct val="100000"/>
            </a:pPr>
            <a:r>
              <a:rPr lang="en-US" dirty="0">
                <a:latin typeface="Times New Roman" panose="02020603050405020304" pitchFamily="18" charset="0"/>
                <a:cs typeface="Times New Roman" panose="02020603050405020304" pitchFamily="18" charset="0"/>
              </a:rPr>
              <a:t>Guide name: Dr. V. Raghavendra </a:t>
            </a:r>
          </a:p>
          <a:p>
            <a:pPr marL="0" indent="0">
              <a:lnSpc>
                <a:spcPct val="170000"/>
              </a:lnSpc>
              <a:spcBef>
                <a:spcPts val="592"/>
              </a:spcBef>
              <a:buSzPct val="100000"/>
            </a:pPr>
            <a:r>
              <a:rPr lang="en-US" dirty="0">
                <a:latin typeface="Times New Roman" panose="02020603050405020304" pitchFamily="18" charset="0"/>
                <a:cs typeface="Times New Roman" panose="02020603050405020304" pitchFamily="18" charset="0"/>
              </a:rPr>
              <a:t>Designation:</a:t>
            </a:r>
            <a:r>
              <a:rPr lang="en-IN" b="0" i="0" dirty="0">
                <a:solidFill>
                  <a:srgbClr val="000000"/>
                </a:solidFill>
                <a:effectLst/>
                <a:highlight>
                  <a:srgbClr val="FFFFFF"/>
                </a:highlight>
                <a:latin typeface="Source Sans Pro" panose="020F0502020204030204" pitchFamily="34" charset="0"/>
              </a:rPr>
              <a:t> </a:t>
            </a:r>
            <a:r>
              <a:rPr lang="en-IN" b="0" i="0" dirty="0">
                <a:solidFill>
                  <a:schemeClr val="bg1">
                    <a:lumMod val="50000"/>
                  </a:schemeClr>
                </a:solidFill>
                <a:effectLst/>
                <a:highlight>
                  <a:srgbClr val="FFFFFF"/>
                </a:highlight>
                <a:latin typeface="Source Sans Pro" panose="020B0503030403020204" pitchFamily="34" charset="0"/>
              </a:rPr>
              <a:t>Assistant Professor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Department: Computing Technologies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t>
            </a:r>
            <a:endParaRPr dirty="0"/>
          </a:p>
        </p:txBody>
      </p:sp>
      <p:sp>
        <p:nvSpPr>
          <p:cNvPr id="97" name="Google Shape;97;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chemeClr val="dk1"/>
              </a:buClr>
              <a:buSzPts val="3200"/>
              <a:buNone/>
            </a:pPr>
            <a:r>
              <a:rPr lang="en-US"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 </a:t>
            </a:r>
            <a:r>
              <a:rPr lang="en-US" sz="3000" b="1" dirty="0">
                <a:latin typeface="Times New Roman" panose="02020603050405020304" pitchFamily="18" charset="0"/>
                <a:cs typeface="Times New Roman" panose="02020603050405020304" pitchFamily="18" charset="0"/>
              </a:rPr>
              <a:t>Introduction  </a:t>
            </a:r>
            <a:r>
              <a:rPr lang="en-US" sz="3000" dirty="0">
                <a:latin typeface="Times New Roman" panose="02020603050405020304" pitchFamily="18" charset="0"/>
                <a:cs typeface="Times New Roman" panose="02020603050405020304" pitchFamily="18" charset="0"/>
              </a:rPr>
              <a:t>     </a:t>
            </a:r>
          </a:p>
          <a:p>
            <a:pPr marL="0" lvl="0" indent="0" algn="l" rtl="0">
              <a:spcBef>
                <a:spcPts val="0"/>
              </a:spcBef>
              <a:spcAft>
                <a:spcPts val="0"/>
              </a:spcAft>
              <a:buClr>
                <a:schemeClr val="dk1"/>
              </a:buClr>
              <a:buSzPts val="3200"/>
              <a:buNone/>
            </a:pPr>
            <a:r>
              <a:rPr lang="en-US"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pPr algn="just" rtl="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Computer vision has seen dramatic improvement with advances from deep learning-based object detection   models. Among these, YOLO (You Only Look Once)-based models have emerged as the de facto choice for object detection in real time, offering an optimum trade-off between speed and precision. While object detection provides a system with the ability to detect and localize an object within a scene, it lacks the ability to perceive spatial relationships among the detected object and the camera. This shortcoming is overcome by distance mapping, providing invaluable spatial insight that helps improve decisions across applications from autonomous systems to assistive technologies for humans.</a:t>
            </a:r>
            <a:endParaRPr lang="en-US" sz="1800" b="0" i="0" u="none" strike="noStrike" dirty="0">
              <a:solidFill>
                <a:srgbClr val="000000"/>
              </a:solidFill>
              <a:effectLst/>
              <a:latin typeface="Arial" panose="020B0604020202020204" pitchFamily="34" charset="0"/>
            </a:endParaRPr>
          </a:p>
          <a:p>
            <a:pPr marR="107950" algn="just" rtl="0" fontAlgn="base">
              <a:spcBef>
                <a:spcPts val="1200"/>
              </a:spcBef>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The "Real-Time Object Detection and Distance Mapping" project is one that brings these two fundamental abilities together to form an integrated, real-time system. The project utilizes YOLOv8, also one of the newer versions of the YOLO system, for object detection, which is characterized by its lightweight design, high-speed inference, and high accuracy, ideal for use for real-world applications on commodity hardware without the need for costly GPUs.</a:t>
            </a:r>
            <a:endParaRPr lang="en-US" sz="1800" b="0" i="0" u="none" strike="noStrike" dirty="0">
              <a:solidFill>
                <a:srgbClr val="000000"/>
              </a:solidFill>
              <a:effectLst/>
              <a:latin typeface="Arial" panose="020B0604020202020204" pitchFamily="34" charset="0"/>
            </a:endParaRPr>
          </a:p>
          <a:p>
            <a:pPr marL="342900" lvl="0" indent="-139700" algn="l" rtl="0">
              <a:spcBef>
                <a:spcPts val="640"/>
              </a:spcBef>
              <a:spcAft>
                <a:spcPts val="0"/>
              </a:spcAft>
              <a:buClr>
                <a:schemeClr val="dk1"/>
              </a:buClr>
              <a:buSzPts val="3200"/>
              <a:buNone/>
            </a:pPr>
            <a:endParaRPr dirty="0">
              <a:latin typeface="Times New Roman" panose="02020603050405020304" pitchFamily="18" charset="0"/>
              <a:cs typeface="Times New Roman" panose="02020603050405020304" pitchFamily="18" charset="0"/>
            </a:endParaRPr>
          </a:p>
          <a:p>
            <a:pPr marL="342900" lvl="0" indent="-139700" algn="l" rtl="0">
              <a:spcBef>
                <a:spcPts val="640"/>
              </a:spcBef>
              <a:spcAft>
                <a:spcPts val="0"/>
              </a:spcAft>
              <a:buClr>
                <a:schemeClr val="dk1"/>
              </a:buClr>
              <a:buSzPts val="3200"/>
              <a:buNone/>
            </a:pPr>
            <a:endParaRPr dirty="0">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066086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0" lvl="0" indent="0" rtl="0">
              <a:spcBef>
                <a:spcPts val="0"/>
              </a:spcBef>
              <a:spcAft>
                <a:spcPts val="0"/>
              </a:spcAft>
              <a:buClr>
                <a:schemeClr val="dk1"/>
              </a:buClr>
              <a:buSzPts val="3200"/>
              <a:buNone/>
            </a:pPr>
            <a:r>
              <a:rPr lang="en-IN" sz="2800" b="1" dirty="0">
                <a:latin typeface="Times New Roman" panose="02020603050405020304" pitchFamily="18" charset="0"/>
                <a:cs typeface="Times New Roman" panose="02020603050405020304" pitchFamily="18" charset="0"/>
              </a:rPr>
              <a:t>Problem Statement</a:t>
            </a:r>
          </a:p>
          <a:p>
            <a:pPr marR="107950" algn="just" rtl="0" fontAlgn="base">
              <a:spcBef>
                <a:spcPts val="1200"/>
              </a:spcBef>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In today’s world, many technologies rely on being able to detect and understand objects around them. While models like YOLO have made huge strides in quickly identifying objects in real time, they still face a big limitation: they can’t tell us how far away these objects are from the camera or sensor. This lack of spatial awareness creates problems in areas where knowing the distance to an object is crucial—like in autonomous driving, safety systems, and assistive technologies.</a:t>
            </a:r>
            <a:endParaRPr lang="en-US" sz="1800" b="0" i="0" u="none" strike="noStrike" dirty="0">
              <a:solidFill>
                <a:srgbClr val="000000"/>
              </a:solidFill>
              <a:effectLst/>
              <a:latin typeface="Arial" panose="020B0604020202020204" pitchFamily="34" charset="0"/>
            </a:endParaRPr>
          </a:p>
          <a:p>
            <a:pPr marR="107950" algn="just" rtl="0" fontAlgn="base">
              <a:spcBef>
                <a:spcPts val="1200"/>
              </a:spcBef>
              <a:buFont typeface="Arial" panose="020B0604020202020204" pitchFamily="34" charset="0"/>
              <a:buChar char="•"/>
            </a:pPr>
            <a:r>
              <a:rPr lang="en-US" sz="1800" b="1" i="0" u="none" strike="noStrike" dirty="0">
                <a:solidFill>
                  <a:srgbClr val="000000"/>
                </a:solidFill>
                <a:effectLst/>
                <a:latin typeface="Times New Roman" panose="02020603050405020304" pitchFamily="18" charset="0"/>
              </a:rPr>
              <a:t>Self-driving cars</a:t>
            </a:r>
            <a:r>
              <a:rPr lang="en-US" sz="1800" b="0" i="0" u="none" strike="noStrike" dirty="0">
                <a:solidFill>
                  <a:srgbClr val="000000"/>
                </a:solidFill>
                <a:effectLst/>
                <a:latin typeface="Times New Roman" panose="02020603050405020304" pitchFamily="18" charset="0"/>
              </a:rPr>
              <a:t> need to not only detect pedestrians or other vehicles but also understand how far away they are to avoid crashes.</a:t>
            </a:r>
            <a:endParaRPr lang="en-US" sz="1800" b="1" i="0" u="none" strike="noStrike" dirty="0">
              <a:solidFill>
                <a:srgbClr val="000000"/>
              </a:solidFill>
              <a:effectLst/>
              <a:latin typeface="Noto Sans Symbols"/>
            </a:endParaRPr>
          </a:p>
          <a:p>
            <a:pPr marR="107950" algn="just" rtl="0" fontAlgn="base">
              <a:spcBef>
                <a:spcPts val="1200"/>
              </a:spcBef>
              <a:buFont typeface="Arial" panose="020B0604020202020204" pitchFamily="34" charset="0"/>
              <a:buChar char="•"/>
            </a:pPr>
            <a:r>
              <a:rPr lang="en-US" sz="1800" b="1" i="0" u="none" strike="noStrike" dirty="0">
                <a:solidFill>
                  <a:srgbClr val="000000"/>
                </a:solidFill>
                <a:effectLst/>
                <a:latin typeface="Times New Roman" panose="02020603050405020304" pitchFamily="18" charset="0"/>
              </a:rPr>
              <a:t>Assistive technology</a:t>
            </a:r>
            <a:r>
              <a:rPr lang="en-US" sz="1800" b="0" i="0" u="none" strike="noStrike" dirty="0">
                <a:solidFill>
                  <a:srgbClr val="000000"/>
                </a:solidFill>
                <a:effectLst/>
                <a:latin typeface="Times New Roman" panose="02020603050405020304" pitchFamily="18" charset="0"/>
              </a:rPr>
              <a:t> for visually impaired individuals could be much more helpful if it could detect objects in their path and tell them how close those objects are, helping them move around more safely.</a:t>
            </a:r>
            <a:endParaRPr lang="en-US" sz="1800" b="1" i="0" u="none" strike="noStrike" dirty="0">
              <a:solidFill>
                <a:srgbClr val="000000"/>
              </a:solidFill>
              <a:effectLst/>
              <a:latin typeface="Noto Sans Symbols"/>
            </a:endParaRPr>
          </a:p>
          <a:p>
            <a:pPr marR="107950" algn="just" rtl="0" fontAlgn="base">
              <a:spcBef>
                <a:spcPts val="1200"/>
              </a:spcBef>
              <a:buFont typeface="Arial" panose="020B0604020202020204" pitchFamily="34" charset="0"/>
              <a:buChar char="•"/>
            </a:pPr>
            <a:r>
              <a:rPr lang="en-US" sz="1800" b="1" i="0" u="none" strike="noStrike" dirty="0">
                <a:solidFill>
                  <a:srgbClr val="000000"/>
                </a:solidFill>
                <a:effectLst/>
                <a:latin typeface="Times New Roman" panose="02020603050405020304" pitchFamily="18" charset="0"/>
              </a:rPr>
              <a:t>Industrial systems</a:t>
            </a:r>
            <a:r>
              <a:rPr lang="en-US" sz="1800" b="0" i="0" u="none" strike="noStrike" dirty="0">
                <a:solidFill>
                  <a:srgbClr val="000000"/>
                </a:solidFill>
                <a:effectLst/>
                <a:latin typeface="Times New Roman" panose="02020603050405020304" pitchFamily="18" charset="0"/>
              </a:rPr>
              <a:t> that track equipment and people need to know how close objects are to each other to avoid accidents and optimize operations.</a:t>
            </a:r>
            <a:endParaRPr lang="en-US" sz="1800" b="1" i="0" u="none" strike="noStrike" dirty="0">
              <a:solidFill>
                <a:srgbClr val="000000"/>
              </a:solidFill>
              <a:effectLst/>
              <a:latin typeface="Noto Sans Symbols"/>
            </a:endParaRPr>
          </a:p>
          <a:p>
            <a:pPr marL="0" lvl="0" indent="0" rtl="0">
              <a:spcBef>
                <a:spcPts val="0"/>
              </a:spcBef>
              <a:spcAft>
                <a:spcPts val="0"/>
              </a:spcAft>
              <a:buClr>
                <a:schemeClr val="dk1"/>
              </a:buClr>
              <a:buSzPts val="3200"/>
              <a:buNone/>
            </a:pPr>
            <a:endParaRPr sz="2800" b="1" dirty="0">
              <a:latin typeface="Times New Roman" panose="02020603050405020304" pitchFamily="18" charset="0"/>
              <a:cs typeface="Times New Roman" panose="02020603050405020304" pitchFamily="18" charset="0"/>
            </a:endParaRP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lang="en-US" dirty="0"/>
          </a:p>
        </p:txBody>
      </p:sp>
      <p:sp>
        <p:nvSpPr>
          <p:cNvPr id="109" name="Google Shape;10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0" indent="0">
              <a:spcBef>
                <a:spcPts val="0"/>
              </a:spcBef>
              <a:buSzPts val="3200"/>
              <a:buNone/>
            </a:pPr>
            <a:r>
              <a:rPr lang="en-US" sz="5100" b="1" dirty="0">
                <a:latin typeface="Times New Roman" panose="02020603050405020304" pitchFamily="18" charset="0"/>
                <a:cs typeface="Times New Roman" panose="02020603050405020304" pitchFamily="18" charset="0"/>
              </a:rPr>
              <a:t> </a:t>
            </a:r>
            <a:r>
              <a:rPr lang="en-US" sz="3000" b="1" dirty="0">
                <a:latin typeface="Times New Roman" panose="02020603050405020304" pitchFamily="18" charset="0"/>
                <a:cs typeface="Times New Roman" panose="02020603050405020304" pitchFamily="18" charset="0"/>
              </a:rPr>
              <a:t>Objectives </a:t>
            </a:r>
          </a:p>
          <a:p>
            <a:pPr marR="107950" algn="just" rtl="0" fontAlgn="base">
              <a:spcBef>
                <a:spcPts val="1200"/>
              </a:spcBef>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The goal of the "Real-Time Object Detection and Distance Mapping" project is to create a system that not only detects objects quickly and accurately but also estimates how far those objects are from the camera or sensor, all in real time. By using the YOLOv8 deep learning model, the system can identify various objects—like people, vehicles, or obstacles—and then calculate their distance using methods like pixel-to-meter scaling and focal length estimation. This will give a clearer understanding of the environment, making it easier to interact with and respond to what's around you.</a:t>
            </a:r>
            <a:endParaRPr lang="en-US" sz="1800" b="0" i="0" u="none" strike="noStrike" dirty="0">
              <a:solidFill>
                <a:srgbClr val="000000"/>
              </a:solidFill>
              <a:effectLst/>
              <a:latin typeface="Arial" panose="020B0604020202020204" pitchFamily="34" charset="0"/>
            </a:endParaRPr>
          </a:p>
          <a:p>
            <a:pPr marR="107950" algn="just" rtl="0" fontAlgn="base">
              <a:spcBef>
                <a:spcPts val="1200"/>
              </a:spcBef>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The system will provide both visual and auditory feedback. It will display the location of detected objects through bounding boxes and also use text-to-speech technology to warn users when objects are getting too close. This is particularly useful in scenarios like autonomous driving, helping visually impaired individuals navigate, or improving safety in industrial settings—any situation where knowing the proximity of objects can help make better, safer decisions.</a:t>
            </a:r>
            <a:endParaRPr lang="en-US" sz="1800" b="0" i="0" u="none" strike="noStrike" dirty="0">
              <a:solidFill>
                <a:srgbClr val="000000"/>
              </a:solidFill>
              <a:effectLst/>
              <a:latin typeface="Arial" panose="020B0604020202020204" pitchFamily="34" charset="0"/>
            </a:endParaRPr>
          </a:p>
          <a:p>
            <a:pPr marL="0" lvl="0" indent="0" algn="ctr" rtl="0">
              <a:spcBef>
                <a:spcPts val="0"/>
              </a:spcBef>
              <a:spcAft>
                <a:spcPts val="0"/>
              </a:spcAft>
              <a:buClr>
                <a:schemeClr val="dk1"/>
              </a:buClr>
              <a:buSzPts val="3200"/>
              <a:buNone/>
            </a:pPr>
            <a:endParaRPr dirty="0">
              <a:latin typeface="Times New Roman" panose="02020603050405020304" pitchFamily="18" charset="0"/>
              <a:cs typeface="Times New Roman" panose="02020603050405020304" pitchFamily="18" charset="0"/>
            </a:endParaRP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lang="en-US" dirty="0"/>
          </a:p>
        </p:txBody>
      </p:sp>
      <p:sp>
        <p:nvSpPr>
          <p:cNvPr id="109" name="Google Shape;10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545296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t>
            </a:r>
            <a:endParaRPr dirty="0"/>
          </a:p>
        </p:txBody>
      </p:sp>
      <p:sp>
        <p:nvSpPr>
          <p:cNvPr id="97" name="Google Shape;97;p2"/>
          <p:cNvSpPr txBox="1">
            <a:spLocks noGrp="1"/>
          </p:cNvSpPr>
          <p:nvPr>
            <p:ph type="body" idx="1"/>
          </p:nvPr>
        </p:nvSpPr>
        <p:spPr>
          <a:xfrm>
            <a:off x="457200" y="1600201"/>
            <a:ext cx="8378890" cy="452068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sz="3500" b="1" dirty="0">
                <a:latin typeface="Times New Roman" panose="02020603050405020304" pitchFamily="18" charset="0"/>
                <a:cs typeface="Times New Roman" panose="02020603050405020304" pitchFamily="18" charset="0"/>
              </a:rPr>
              <a:t>Proposed System                   </a:t>
            </a:r>
            <a:endParaRPr sz="3500" b="1" dirty="0">
              <a:latin typeface="Times New Roman" panose="02020603050405020304" pitchFamily="18" charset="0"/>
              <a:cs typeface="Times New Roman" panose="02020603050405020304" pitchFamily="18" charset="0"/>
            </a:endParaRPr>
          </a:p>
          <a:p>
            <a:pPr marL="342900" lvl="0" indent="-139700" algn="l" rtl="0">
              <a:spcBef>
                <a:spcPts val="640"/>
              </a:spcBef>
              <a:spcAft>
                <a:spcPts val="0"/>
              </a:spcAft>
              <a:buClr>
                <a:schemeClr val="dk1"/>
              </a:buClr>
              <a:buSzPts val="3200"/>
              <a:buNone/>
            </a:pPr>
            <a:endParaRPr dirty="0">
              <a:latin typeface="Times New Roman" panose="02020603050405020304" pitchFamily="18" charset="0"/>
              <a:cs typeface="Times New Roman" panose="02020603050405020304" pitchFamily="18" charset="0"/>
            </a:endParaRPr>
          </a:p>
          <a:p>
            <a:pPr marR="107950" algn="just" rtl="0" fontAlgn="base">
              <a:spcBef>
                <a:spcPts val="600"/>
              </a:spcBef>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The proposed system for the "Real-Time Object Detection and Distance Mapping" project aims to bridge the gap between object detection and spatial awareness in a way that is both efficient and accessible. Using the YOLOv8 deep learning model, the system will be able to detect objects in real time, such as people, vehicles, or obstacles, within images or video streams. This real-time detection will be combined with a unique feature: distance estimation. By using geometric methods like pixel-to-meter scaling and focal length estimation, the system will calculate the physical distance between the detected objects and the camera, providing valuable spatial awareness.</a:t>
            </a:r>
            <a:endParaRPr lang="en-US" sz="1800" b="0" i="0" u="none" strike="noStrike" dirty="0">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IN" sz="2200" dirty="0">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lang="en-US"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58799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7FCE3C-D1EB-2ADA-5D04-3F6852FB6A48}"/>
              </a:ext>
            </a:extLst>
          </p:cNvPr>
          <p:cNvSpPr>
            <a:spLocks noGrp="1"/>
          </p:cNvSpPr>
          <p:nvPr>
            <p:ph type="dt" idx="10"/>
          </p:nvPr>
        </p:nvSpPr>
        <p:spPr/>
        <p:txBody>
          <a:bodyPr/>
          <a:lstStyle/>
          <a:p>
            <a:r>
              <a:rPr lang="en-US"/>
              <a:t>3/08/2024</a:t>
            </a:r>
          </a:p>
        </p:txBody>
      </p:sp>
      <p:sp>
        <p:nvSpPr>
          <p:cNvPr id="3" name="Footer Placeholder 2">
            <a:extLst>
              <a:ext uri="{FF2B5EF4-FFF2-40B4-BE49-F238E27FC236}">
                <a16:creationId xmlns:a16="http://schemas.microsoft.com/office/drawing/2014/main" id="{A4BBDB28-2070-BF0D-FF9F-6C30544EDC92}"/>
              </a:ext>
            </a:extLst>
          </p:cNvPr>
          <p:cNvSpPr>
            <a:spLocks noGrp="1"/>
          </p:cNvSpPr>
          <p:nvPr>
            <p:ph type="ftr" idx="11"/>
          </p:nvPr>
        </p:nvSpPr>
        <p:spPr/>
        <p:txBody>
          <a:bodyPr/>
          <a:lstStyle/>
          <a:p>
            <a:endParaRPr lang="en-IN"/>
          </a:p>
        </p:txBody>
      </p:sp>
      <p:sp>
        <p:nvSpPr>
          <p:cNvPr id="4" name="Slide Number Placeholder 3">
            <a:extLst>
              <a:ext uri="{FF2B5EF4-FFF2-40B4-BE49-F238E27FC236}">
                <a16:creationId xmlns:a16="http://schemas.microsoft.com/office/drawing/2014/main" id="{4C06071B-3789-CFA4-F148-D2ED9DE8C7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7" name="TextBox 6">
            <a:extLst>
              <a:ext uri="{FF2B5EF4-FFF2-40B4-BE49-F238E27FC236}">
                <a16:creationId xmlns:a16="http://schemas.microsoft.com/office/drawing/2014/main" id="{BCB421CB-DB4C-F48D-A4F0-4B8D623178A1}"/>
              </a:ext>
            </a:extLst>
          </p:cNvPr>
          <p:cNvSpPr txBox="1"/>
          <p:nvPr/>
        </p:nvSpPr>
        <p:spPr>
          <a:xfrm>
            <a:off x="457200" y="1172367"/>
            <a:ext cx="4557658" cy="646331"/>
          </a:xfrm>
          <a:prstGeom prst="rect">
            <a:avLst/>
          </a:prstGeom>
          <a:noFill/>
        </p:spPr>
        <p:txBody>
          <a:bodyPr wrap="none" rtlCol="0">
            <a:spAutoFit/>
          </a:bodyPr>
          <a:lstStyle/>
          <a:p>
            <a:r>
              <a:rPr lang="en-IN" sz="3600" b="1" dirty="0">
                <a:latin typeface="Times New Roman" panose="02020603050405020304" pitchFamily="18" charset="0"/>
                <a:cs typeface="Times New Roman" panose="02020603050405020304" pitchFamily="18" charset="0"/>
              </a:rPr>
              <a:t>Architecture Diagram</a:t>
            </a:r>
          </a:p>
        </p:txBody>
      </p:sp>
      <p:pic>
        <p:nvPicPr>
          <p:cNvPr id="10" name="Google Shape;98;p2">
            <a:extLst>
              <a:ext uri="{FF2B5EF4-FFF2-40B4-BE49-F238E27FC236}">
                <a16:creationId xmlns:a16="http://schemas.microsoft.com/office/drawing/2014/main" id="{3C872985-A698-680F-61C5-9FA407626D0B}"/>
              </a:ext>
            </a:extLst>
          </p:cNvPr>
          <p:cNvPicPr preferRelativeResize="0"/>
          <p:nvPr/>
        </p:nvPicPr>
        <p:blipFill rotWithShape="1">
          <a:blip r:embed="rId2">
            <a:alphaModFix/>
          </a:blip>
          <a:srcRect/>
          <a:stretch/>
        </p:blipFill>
        <p:spPr>
          <a:xfrm>
            <a:off x="284583" y="346798"/>
            <a:ext cx="2237740" cy="755015"/>
          </a:xfrm>
          <a:prstGeom prst="rect">
            <a:avLst/>
          </a:prstGeom>
          <a:noFill/>
          <a:ln>
            <a:noFill/>
          </a:ln>
        </p:spPr>
      </p:pic>
      <p:pic>
        <p:nvPicPr>
          <p:cNvPr id="1026" name="Picture 2">
            <a:extLst>
              <a:ext uri="{FF2B5EF4-FFF2-40B4-BE49-F238E27FC236}">
                <a16:creationId xmlns:a16="http://schemas.microsoft.com/office/drawing/2014/main" id="{C1253EC3-9007-646F-C0F7-E5F51CE4DF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468" y="2214134"/>
            <a:ext cx="8135332" cy="360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676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      </a:t>
            </a:r>
            <a:endParaRPr dirty="0"/>
          </a:p>
        </p:txBody>
      </p:sp>
      <p:sp>
        <p:nvSpPr>
          <p:cNvPr id="97" name="Google Shape;97;p2"/>
          <p:cNvSpPr txBox="1">
            <a:spLocks noGrp="1"/>
          </p:cNvSpPr>
          <p:nvPr>
            <p:ph type="body" idx="1"/>
          </p:nvPr>
        </p:nvSpPr>
        <p:spPr>
          <a:xfrm>
            <a:off x="457200" y="1600201"/>
            <a:ext cx="8347435" cy="4527222"/>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spcBef>
                <a:spcPts val="0"/>
              </a:spcBef>
              <a:spcAft>
                <a:spcPts val="0"/>
              </a:spcAft>
              <a:buClr>
                <a:schemeClr val="dk1"/>
              </a:buClr>
              <a:buSzPts val="3200"/>
              <a:buNone/>
            </a:pPr>
            <a:r>
              <a:rPr lang="en-US" sz="3500" b="1" dirty="0">
                <a:latin typeface="Times New Roman" panose="02020603050405020304" pitchFamily="18" charset="0"/>
                <a:cs typeface="Times New Roman" panose="02020603050405020304" pitchFamily="18" charset="0"/>
              </a:rPr>
              <a:t>Methodology    </a:t>
            </a:r>
            <a:r>
              <a:rPr lang="en-US" sz="4700" b="1" dirty="0">
                <a:latin typeface="Times New Roman" panose="02020603050405020304" pitchFamily="18" charset="0"/>
                <a:cs typeface="Times New Roman" panose="02020603050405020304" pitchFamily="18" charset="0"/>
              </a:rPr>
              <a:t> </a:t>
            </a:r>
          </a:p>
          <a:p>
            <a:pPr marL="0" lvl="0" indent="0" algn="l" rtl="0">
              <a:spcBef>
                <a:spcPts val="0"/>
              </a:spcBef>
              <a:spcAft>
                <a:spcPts val="0"/>
              </a:spcAft>
              <a:buClr>
                <a:schemeClr val="dk1"/>
              </a:buClr>
              <a:buSzPts val="3200"/>
              <a:buNone/>
            </a:pPr>
            <a:endParaRPr lang="en-US" sz="47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project leverages pre-trained YOLOv8 models (yolov8m.pt, yolov8n.pt) for object detection, utilizing datasets detailed in the coco.txt file for fine-tuning and validation, and testing inputs including both images and videos (e.g., bus.jpg, 33.mp4, 34.mp4) to assess model performance in static and dynamic contexts.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Input data undergoes preprocessing—resizing, normalization, and color space conversion—to align with YOLOv8's requirements, with video streams processed frame-by-frame using OpenCV for real-time detection. The detection pipeline is implemented through Python scripts like object_detection.py for images, real_time.py for live feeds, and video_with_distance.py for proximity estimation. YOLOv8 detects objects by dividing the input into grids and predicting bounding boxes, class labels, and confidence scores.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Post-processing involves adding bounding boxes and labels, applying confidence thresholds, and optionally integrating tracking to enhance clarity and reduce false positives. Evaluation includes varying confidence and NMS settings, analyzing precision, recall, and MAP, and optimizing via dataset fine-tuning and hyperparameter adjustments to balance speed and accuracy—choosing between the faster yolov8n.pt and more accurate yolov8m.pt.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final deployment phase enables real-time applications like surveillance and automation, with scalability for mobile and web platforms, and compatibility with edge devices such as Raspberry Pi or NVIDIA Jetson, thereby broadening its practical utility.</a:t>
            </a: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lang="en-US"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66980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body" idx="1"/>
          </p:nvPr>
        </p:nvSpPr>
        <p:spPr>
          <a:xfrm>
            <a:off x="381000" y="1212216"/>
            <a:ext cx="7979229" cy="4913948"/>
          </a:xfrm>
          <a:prstGeom prst="rect">
            <a:avLst/>
          </a:prstGeom>
          <a:noFill/>
          <a:ln>
            <a:noFill/>
          </a:ln>
        </p:spPr>
        <p:txBody>
          <a:bodyPr spcFirstLastPara="1" wrap="square" lIns="91425" tIns="45700" rIns="91425" bIns="45700" anchor="t" anchorCtr="0">
            <a:normAutofit fontScale="92500" lnSpcReduction="10000"/>
          </a:bodyPr>
          <a:lstStyle/>
          <a:p>
            <a:pPr marL="571500" lvl="1" indent="0">
              <a:buNone/>
            </a:pPr>
            <a:r>
              <a:rPr lang="en-US" sz="3200" b="1" dirty="0">
                <a:latin typeface="Times New Roman" panose="02020603050405020304" pitchFamily="18" charset="0"/>
                <a:cs typeface="Times New Roman" panose="02020603050405020304" pitchFamily="18" charset="0"/>
              </a:rPr>
              <a:t>References</a:t>
            </a:r>
          </a:p>
          <a:p>
            <a:pPr marL="571500" lvl="1" indent="0">
              <a:buNone/>
            </a:pPr>
            <a:endParaRPr lang="en-US" sz="3200" b="1" dirty="0">
              <a:latin typeface="Times New Roman" panose="02020603050405020304" pitchFamily="18" charset="0"/>
              <a:cs typeface="Times New Roman" panose="02020603050405020304" pitchFamily="18" charset="0"/>
            </a:endParaRPr>
          </a:p>
          <a:p>
            <a:pPr marL="457200" lvl="0" indent="-330200" algn="just">
              <a:buClr>
                <a:schemeClr val="dk1"/>
              </a:buClr>
              <a:buSzPts val="1600"/>
              <a:buChar char="●"/>
            </a:pPr>
            <a:r>
              <a:rPr lang="en-IN" sz="1600" dirty="0">
                <a:latin typeface="Times New Roman" panose="02020603050405020304" pitchFamily="18" charset="0"/>
                <a:cs typeface="Times New Roman" panose="02020603050405020304" pitchFamily="18" charset="0"/>
              </a:rPr>
              <a:t>Fan, </a:t>
            </a:r>
            <a:r>
              <a:rPr lang="en-IN" sz="1600" dirty="0" err="1">
                <a:latin typeface="Times New Roman" panose="02020603050405020304" pitchFamily="18" charset="0"/>
                <a:cs typeface="Times New Roman" panose="02020603050405020304" pitchFamily="18" charset="0"/>
              </a:rPr>
              <a:t>Xiangyu</a:t>
            </a:r>
            <a:r>
              <a:rPr lang="en-IN" sz="1600" dirty="0">
                <a:latin typeface="Times New Roman" panose="02020603050405020304" pitchFamily="18" charset="0"/>
                <a:cs typeface="Times New Roman" panose="02020603050405020304" pitchFamily="18" charset="0"/>
              </a:rPr>
              <a:t>. "YOLOv8-Lite: A Lightweight Object Detection Model for Real-time Autonomous Driving Systems." </a:t>
            </a:r>
            <a:r>
              <a:rPr lang="en-IN" sz="1600" i="1" dirty="0">
                <a:latin typeface="Times New Roman" panose="02020603050405020304" pitchFamily="18" charset="0"/>
                <a:cs typeface="Times New Roman" panose="02020603050405020304" pitchFamily="18" charset="0"/>
              </a:rPr>
              <a:t>IECE Transactions on Emerging Topics in Artificial Intelligence</a:t>
            </a:r>
            <a:r>
              <a:rPr lang="en-IN" sz="1600" dirty="0">
                <a:latin typeface="Times New Roman" panose="02020603050405020304" pitchFamily="18" charset="0"/>
                <a:cs typeface="Times New Roman" panose="02020603050405020304" pitchFamily="18" charset="0"/>
              </a:rPr>
              <a:t> 1, no. 1 (2024): 1-16. </a:t>
            </a:r>
          </a:p>
          <a:p>
            <a:pPr marL="457200" lvl="0" indent="-330200" algn="just">
              <a:buClr>
                <a:schemeClr val="dk1"/>
              </a:buClr>
              <a:buSzPts val="1600"/>
              <a:buChar char="●"/>
            </a:pPr>
            <a:r>
              <a:rPr lang="en-IN" sz="1600" dirty="0">
                <a:latin typeface="Times New Roman" panose="02020603050405020304" pitchFamily="18" charset="0"/>
                <a:cs typeface="Times New Roman" panose="02020603050405020304" pitchFamily="18" charset="0"/>
              </a:rPr>
              <a:t>Huang, Huadong, Binyu Wang, </a:t>
            </a:r>
            <a:r>
              <a:rPr lang="en-IN" sz="1600" dirty="0" err="1">
                <a:latin typeface="Times New Roman" panose="02020603050405020304" pitchFamily="18" charset="0"/>
                <a:cs typeface="Times New Roman" panose="02020603050405020304" pitchFamily="18" charset="0"/>
              </a:rPr>
              <a:t>Jiannan</a:t>
            </a:r>
            <a:r>
              <a:rPr lang="en-IN" sz="1600" dirty="0">
                <a:latin typeface="Times New Roman" panose="02020603050405020304" pitchFamily="18" charset="0"/>
                <a:cs typeface="Times New Roman" panose="02020603050405020304" pitchFamily="18" charset="0"/>
              </a:rPr>
              <a:t> Xiao, and Tianyu Zhu. "Improved small-object detection using YOLOv8: A comparative study." </a:t>
            </a:r>
            <a:r>
              <a:rPr lang="en-IN" sz="1600" i="1" dirty="0">
                <a:latin typeface="Times New Roman" panose="02020603050405020304" pitchFamily="18" charset="0"/>
                <a:cs typeface="Times New Roman" panose="02020603050405020304" pitchFamily="18" charset="0"/>
              </a:rPr>
              <a:t>Applied and Computational Engineering</a:t>
            </a:r>
            <a:r>
              <a:rPr lang="en-IN" sz="1600" dirty="0">
                <a:latin typeface="Times New Roman" panose="02020603050405020304" pitchFamily="18" charset="0"/>
                <a:cs typeface="Times New Roman" panose="02020603050405020304" pitchFamily="18" charset="0"/>
              </a:rPr>
              <a:t> 41 (2024): 80-88. </a:t>
            </a:r>
          </a:p>
          <a:p>
            <a:pPr marL="457200" lvl="0" indent="-330200" algn="just">
              <a:buClr>
                <a:schemeClr val="dk1"/>
              </a:buClr>
              <a:buSzPts val="1600"/>
              <a:buChar char="●"/>
            </a:pPr>
            <a:r>
              <a:rPr lang="en-US" sz="1600" dirty="0">
                <a:latin typeface="Times New Roman" panose="02020603050405020304" pitchFamily="18" charset="0"/>
                <a:cs typeface="Times New Roman" panose="02020603050405020304" pitchFamily="18" charset="0"/>
              </a:rPr>
              <a:t>Verma, Urvashi, Anshul Kalia, and Sumesh Sood. "YOLOV8: An Enhanced Object Detection Model for Distance Estimation." </a:t>
            </a:r>
            <a:r>
              <a:rPr lang="en-US" sz="1600" i="1" dirty="0">
                <a:latin typeface="Times New Roman" panose="02020603050405020304" pitchFamily="18" charset="0"/>
                <a:cs typeface="Times New Roman" panose="02020603050405020304" pitchFamily="18" charset="0"/>
              </a:rPr>
              <a:t>International Journal of Intelligent Systems and Applications in Engineering</a:t>
            </a:r>
            <a:r>
              <a:rPr lang="en-US" sz="1600" dirty="0">
                <a:latin typeface="Times New Roman" panose="02020603050405020304" pitchFamily="18" charset="0"/>
                <a:cs typeface="Times New Roman" panose="02020603050405020304" pitchFamily="18" charset="0"/>
              </a:rPr>
              <a:t> 12, no. 21s (2024): 3852.</a:t>
            </a:r>
            <a:endParaRPr lang="en-IN" sz="1600" dirty="0">
              <a:latin typeface="Times New Roman" panose="02020603050405020304" pitchFamily="18" charset="0"/>
              <a:cs typeface="Times New Roman" panose="02020603050405020304" pitchFamily="18" charset="0"/>
            </a:endParaRPr>
          </a:p>
          <a:p>
            <a:pPr marL="457200" lvl="0" indent="-330200" algn="just">
              <a:buClr>
                <a:schemeClr val="dk1"/>
              </a:buClr>
              <a:buSzPts val="1600"/>
              <a:buChar char="●"/>
            </a:pPr>
            <a:r>
              <a:rPr lang="en-IN" sz="1600" dirty="0">
                <a:latin typeface="Times New Roman" panose="02020603050405020304" pitchFamily="18" charset="0"/>
                <a:cs typeface="Times New Roman" panose="02020603050405020304" pitchFamily="18" charset="0"/>
              </a:rPr>
              <a:t>Silva, Diego A., Kamilya </a:t>
            </a:r>
            <a:r>
              <a:rPr lang="en-IN" sz="1600" dirty="0" err="1">
                <a:latin typeface="Times New Roman" panose="02020603050405020304" pitchFamily="18" charset="0"/>
                <a:cs typeface="Times New Roman" panose="02020603050405020304" pitchFamily="18" charset="0"/>
              </a:rPr>
              <a:t>Smagulova</a:t>
            </a:r>
            <a:r>
              <a:rPr lang="en-IN" sz="1600" dirty="0">
                <a:latin typeface="Times New Roman" panose="02020603050405020304" pitchFamily="18" charset="0"/>
                <a:cs typeface="Times New Roman" panose="02020603050405020304" pitchFamily="18" charset="0"/>
              </a:rPr>
              <a:t>, Ahmed Elsheikh, Mohammed E. Fouda, and Ahmed M. </a:t>
            </a:r>
            <a:r>
              <a:rPr lang="en-IN" sz="1600" dirty="0" err="1">
                <a:latin typeface="Times New Roman" panose="02020603050405020304" pitchFamily="18" charset="0"/>
                <a:cs typeface="Times New Roman" panose="02020603050405020304" pitchFamily="18" charset="0"/>
              </a:rPr>
              <a:t>Eltawil</a:t>
            </a:r>
            <a:r>
              <a:rPr lang="en-IN" sz="1600" dirty="0">
                <a:latin typeface="Times New Roman" panose="02020603050405020304" pitchFamily="18" charset="0"/>
                <a:cs typeface="Times New Roman" panose="02020603050405020304" pitchFamily="18" charset="0"/>
              </a:rPr>
              <a:t>. "A Recurrent YOLOv8-based framework for Event-Based Object Detection."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arXiv:2408.05321 (2024). </a:t>
            </a:r>
          </a:p>
          <a:p>
            <a:pPr marL="457200" lvl="0" indent="-330200" algn="just">
              <a:buClr>
                <a:schemeClr val="dk1"/>
              </a:buClr>
              <a:buSzPts val="1600"/>
              <a:buChar char="●"/>
            </a:pPr>
            <a:r>
              <a:rPr lang="en-IN" sz="1600" dirty="0">
                <a:latin typeface="Times New Roman" panose="02020603050405020304" pitchFamily="18" charset="0"/>
                <a:cs typeface="Times New Roman" panose="02020603050405020304" pitchFamily="18" charset="0"/>
              </a:rPr>
              <a:t>Wang, Gang, et al. "UAV-YOLOv8: A Small-Object-Detection Model Based on Improved YOLOv8 for UAV Aerial Photography Scenarios." </a:t>
            </a:r>
            <a:r>
              <a:rPr lang="en-IN" sz="1600" i="1" dirty="0">
                <a:latin typeface="Times New Roman" panose="02020603050405020304" pitchFamily="18" charset="0"/>
                <a:cs typeface="Times New Roman" panose="02020603050405020304" pitchFamily="18" charset="0"/>
              </a:rPr>
              <a:t>Sensors</a:t>
            </a:r>
            <a:r>
              <a:rPr lang="en-IN" sz="1600" dirty="0">
                <a:latin typeface="Times New Roman" panose="02020603050405020304" pitchFamily="18" charset="0"/>
                <a:cs typeface="Times New Roman" panose="02020603050405020304" pitchFamily="18" charset="0"/>
              </a:rPr>
              <a:t> 23.16 (2023): 7190. ​</a:t>
            </a:r>
          </a:p>
          <a:p>
            <a:pPr marL="457200" lvl="0" indent="-330200" algn="just">
              <a:buClr>
                <a:schemeClr val="dk1"/>
              </a:buClr>
              <a:buSzPts val="1600"/>
              <a:buChar char="●"/>
            </a:pPr>
            <a:r>
              <a:rPr lang="en-US" sz="1600" dirty="0"/>
              <a:t>Wang, X. "BL-YOLOv8: An Improved Road Defect Detection Model Based on YOLOv8." </a:t>
            </a:r>
            <a:r>
              <a:rPr lang="en-US" sz="1600" i="1" dirty="0"/>
              <a:t>Sensors</a:t>
            </a:r>
            <a:r>
              <a:rPr lang="en-US" sz="1600" dirty="0"/>
              <a:t> 23.20 (2023): 8361. ​</a:t>
            </a:r>
            <a:endParaRPr lang="en-US" sz="1600" dirty="0">
              <a:latin typeface="Times New Roman" panose="02020603050405020304" pitchFamily="18" charset="0"/>
              <a:cs typeface="Times New Roman" panose="02020603050405020304" pitchFamily="18" charset="0"/>
            </a:endParaRPr>
          </a:p>
        </p:txBody>
      </p:sp>
      <p:pic>
        <p:nvPicPr>
          <p:cNvPr id="107" name="Google Shape;107;p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endParaRPr lang="en-US" dirty="0"/>
          </a:p>
        </p:txBody>
      </p:sp>
      <p:sp>
        <p:nvSpPr>
          <p:cNvPr id="109" name="Google Shape;10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10" name="Google Shape;1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72124512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TotalTime>
  <Words>1228</Words>
  <Application>Microsoft Office PowerPoint</Application>
  <PresentationFormat>On-screen Show (4:3)</PresentationFormat>
  <Paragraphs>58</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Noto Sans Symbols</vt:lpstr>
      <vt:lpstr>Source Sans Pro</vt:lpstr>
      <vt:lpstr>Times New Roman</vt:lpstr>
      <vt:lpstr>Office Theme</vt:lpstr>
      <vt:lpstr>  Real-Time Object Detection and Distance Mapping </vt:lpstr>
      <vt:lpstr>      </vt:lpstr>
      <vt:lpstr>PowerPoint Presentation</vt:lpstr>
      <vt:lpstr>PowerPoint Presentation</vt:lpstr>
      <vt:lpstr>      </vt:lpstr>
      <vt:lpstr>PowerPoint Presentation</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 of Project&gt;</dc:title>
  <dc:creator>Kevin</dc:creator>
  <cp:lastModifiedBy>Saketh Kinthali</cp:lastModifiedBy>
  <cp:revision>33</cp:revision>
  <dcterms:created xsi:type="dcterms:W3CDTF">2020-05-13T07:00:09Z</dcterms:created>
  <dcterms:modified xsi:type="dcterms:W3CDTF">2025-05-06T17:31:53Z</dcterms:modified>
</cp:coreProperties>
</file>