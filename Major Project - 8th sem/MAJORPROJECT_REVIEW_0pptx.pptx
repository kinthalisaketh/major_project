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2"/>
  </p:notesMasterIdLst>
  <p:sldIdLst>
    <p:sldId id="256" r:id="rId2"/>
    <p:sldId id="257" r:id="rId3"/>
    <p:sldId id="259" r:id="rId4"/>
    <p:sldId id="260" r:id="rId5"/>
    <p:sldId id="258" r:id="rId6"/>
    <p:sldId id="272" r:id="rId7"/>
    <p:sldId id="261" r:id="rId8"/>
    <p:sldId id="279" r:id="rId9"/>
    <p:sldId id="269" r:id="rId10"/>
    <p:sldId id="280"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i8k4vfTcigBOvi1GPtpHoS9j9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36427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632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7567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45250DF3-FC18-DE32-D33B-7C2948AB7C01}"/>
            </a:ext>
          </a:extLst>
        </p:cNvPr>
        <p:cNvGrpSpPr/>
        <p:nvPr/>
      </p:nvGrpSpPr>
      <p:grpSpPr>
        <a:xfrm>
          <a:off x="0" y="0"/>
          <a:ext cx="0" cy="0"/>
          <a:chOff x="0" y="0"/>
          <a:chExt cx="0" cy="0"/>
        </a:xfrm>
      </p:grpSpPr>
      <p:sp>
        <p:nvSpPr>
          <p:cNvPr id="103" name="Google Shape;103;p5:notes">
            <a:extLst>
              <a:ext uri="{FF2B5EF4-FFF2-40B4-BE49-F238E27FC236}">
                <a16:creationId xmlns:a16="http://schemas.microsoft.com/office/drawing/2014/main" id="{633DB4C3-05E6-564E-6656-0EE3C4220C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a:extLst>
              <a:ext uri="{FF2B5EF4-FFF2-40B4-BE49-F238E27FC236}">
                <a16:creationId xmlns:a16="http://schemas.microsoft.com/office/drawing/2014/main" id="{6763A02B-6B80-ABC0-6C00-9F1BE8004B1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1225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3/08/2024</a:t>
            </a:r>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326571" y="2175236"/>
            <a:ext cx="8453098" cy="1981200"/>
          </a:xfrm>
          <a:prstGeom prst="rect">
            <a:avLst/>
          </a:prstGeom>
          <a:noFill/>
          <a:ln>
            <a:noFill/>
          </a:ln>
        </p:spPr>
        <p:txBody>
          <a:bodyPr spcFirstLastPara="1" wrap="square" lIns="91425" tIns="45700" rIns="91425" bIns="45700" anchor="ctr" anchorCtr="0">
            <a:normAutofit/>
          </a:bodyPr>
          <a:lstStyle/>
          <a:p>
            <a:pPr>
              <a:buSzPts val="4400"/>
            </a:pPr>
            <a:r>
              <a:rPr lang="en-US" sz="3600" dirty="0">
                <a:latin typeface="Times New Roman" panose="02020603050405020304" pitchFamily="18" charset="0"/>
                <a:cs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Real-Time Object Detection and Distance Mapping</a:t>
            </a:r>
            <a:br>
              <a:rPr lang="en-IN" sz="3600" dirty="0">
                <a:effectLst/>
                <a:latin typeface="Times New Roman" panose="02020603050405020304" pitchFamily="18" charset="0"/>
                <a:ea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4386263" y="4586288"/>
            <a:ext cx="4605337" cy="1981200"/>
          </a:xfrm>
          <a:prstGeom prst="rect">
            <a:avLst/>
          </a:prstGeom>
          <a:noFill/>
          <a:ln>
            <a:noFill/>
          </a:ln>
        </p:spPr>
        <p:txBody>
          <a:bodyPr spcFirstLastPara="1" wrap="square" lIns="91425" tIns="45700" rIns="91425" bIns="45700" anchor="t" anchorCtr="0">
            <a:normAutofit fontScale="55000" lnSpcReduction="20000"/>
          </a:bodyPr>
          <a:lstStyle/>
          <a:p>
            <a:pPr marL="0" indent="0">
              <a:spcBef>
                <a:spcPts val="0"/>
              </a:spcBef>
              <a:buSzPct val="100000"/>
            </a:pPr>
            <a:r>
              <a:rPr lang="en-US" dirty="0">
                <a:latin typeface="Times New Roman" panose="02020603050405020304" pitchFamily="18" charset="0"/>
                <a:cs typeface="Times New Roman" panose="02020603050405020304" pitchFamily="18" charset="0"/>
              </a:rPr>
              <a:t>Batch ID: 1</a:t>
            </a:r>
          </a:p>
          <a:p>
            <a:pPr marL="0" lvl="0" indent="0" algn="ctr" rtl="0">
              <a:spcBef>
                <a:spcPts val="0"/>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1 Reg. No: RA2111003011009</a:t>
            </a:r>
            <a:endParaRPr dirty="0">
              <a:latin typeface="Times New Roman" panose="02020603050405020304" pitchFamily="18" charset="0"/>
              <a:cs typeface="Times New Roman" panose="02020603050405020304" pitchFamily="18" charset="0"/>
            </a:endParaRPr>
          </a:p>
          <a:p>
            <a:pPr marL="0" indent="0">
              <a:spcBef>
                <a:spcPts val="592"/>
              </a:spcBef>
              <a:buSzPct val="100000"/>
            </a:pPr>
            <a:r>
              <a:rPr lang="en-US" dirty="0">
                <a:latin typeface="Times New Roman" panose="02020603050405020304" pitchFamily="18" charset="0"/>
                <a:cs typeface="Times New Roman" panose="02020603050405020304" pitchFamily="18" charset="0"/>
              </a:rPr>
              <a:t>Student 1 Name: KINTHALI SAKETH</a:t>
            </a:r>
          </a:p>
          <a:p>
            <a:pPr marL="0" lvl="0" indent="0" algn="ctr" rtl="0">
              <a:spcBef>
                <a:spcPts val="592"/>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592"/>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2 Reg. No: RA2111003011033</a:t>
            </a:r>
          </a:p>
          <a:p>
            <a:pPr marL="0" lvl="0" indent="0">
              <a:spcBef>
                <a:spcPts val="592"/>
              </a:spcBef>
              <a:buSzPct val="100000"/>
            </a:pPr>
            <a:r>
              <a:rPr lang="en-US" dirty="0">
                <a:latin typeface="Times New Roman" panose="02020603050405020304" pitchFamily="18" charset="0"/>
                <a:cs typeface="Times New Roman" panose="02020603050405020304" pitchFamily="18" charset="0"/>
              </a:rPr>
              <a:t>Student 2 Name: PUDI SAI KRISHNA</a:t>
            </a:r>
            <a:endParaRPr dirty="0">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228600" y="553353"/>
            <a:ext cx="1735931" cy="755015"/>
          </a:xfrm>
          <a:prstGeom prst="rect">
            <a:avLst/>
          </a:prstGeom>
          <a:noFill/>
          <a:ln>
            <a:noFill/>
          </a:ln>
        </p:spPr>
      </p:pic>
      <p:sp>
        <p:nvSpPr>
          <p:cNvPr id="91" name="Google Shape;91;p1"/>
          <p:cNvSpPr/>
          <p:nvPr/>
        </p:nvSpPr>
        <p:spPr>
          <a:xfrm>
            <a:off x="1964531" y="569724"/>
            <a:ext cx="61722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DEPARTMENT OF COMPUTING TECHNOLOGIES</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18CSP109L  - MAJOR PROJECT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89;p1"/>
          <p:cNvSpPr txBox="1">
            <a:spLocks/>
          </p:cNvSpPr>
          <p:nvPr/>
        </p:nvSpPr>
        <p:spPr>
          <a:xfrm>
            <a:off x="228600" y="5243512"/>
            <a:ext cx="3471862" cy="1190625"/>
          </a:xfrm>
          <a:prstGeom prst="rect">
            <a:avLst/>
          </a:prstGeom>
          <a:noFill/>
          <a:ln>
            <a:noFill/>
          </a:ln>
        </p:spPr>
        <p:txBody>
          <a:bodyPr spcFirstLastPara="1" wrap="square" lIns="91425" tIns="45700" rIns="91425" bIns="45700" anchor="t" anchorCtr="0">
            <a:normAutofit fontScale="40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Guide name: Dr. V. Raghavendra </a:t>
            </a:r>
          </a:p>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Designation:</a:t>
            </a:r>
            <a:r>
              <a:rPr lang="en-IN" b="0" i="0" dirty="0">
                <a:solidFill>
                  <a:srgbClr val="000000"/>
                </a:solidFill>
                <a:effectLst/>
                <a:highlight>
                  <a:srgbClr val="FFFFFF"/>
                </a:highlight>
                <a:latin typeface="Source Sans Pro" panose="020F0502020204030204" pitchFamily="34" charset="0"/>
              </a:rPr>
              <a:t> </a:t>
            </a:r>
            <a:r>
              <a:rPr lang="en-IN" b="0" i="0" dirty="0">
                <a:solidFill>
                  <a:schemeClr val="bg1">
                    <a:lumMod val="50000"/>
                  </a:schemeClr>
                </a:solidFill>
                <a:effectLst/>
                <a:highlight>
                  <a:srgbClr val="FFFFFF"/>
                </a:highlight>
                <a:latin typeface="Source Sans Pro" panose="020B0503030403020204" pitchFamily="34" charset="0"/>
              </a:rPr>
              <a:t>Assistant Professor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Department: Computing Technologies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p:cNvSpPr txBox="1">
            <a:spLocks noGrp="1"/>
          </p:cNvSpPr>
          <p:nvPr>
            <p:ph type="body" idx="1"/>
          </p:nvPr>
        </p:nvSpPr>
        <p:spPr>
          <a:xfrm>
            <a:off x="457200" y="1600200"/>
            <a:ext cx="8229600" cy="4704447"/>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spcBef>
                <a:spcPts val="0"/>
              </a:spcBef>
              <a:spcAft>
                <a:spcPts val="0"/>
              </a:spcAft>
              <a:buClr>
                <a:schemeClr val="dk1"/>
              </a:buClr>
              <a:buSzPts val="3200"/>
              <a:buNone/>
            </a:pPr>
            <a:r>
              <a:rPr lang="en-US" sz="5800" dirty="0">
                <a:latin typeface="Times New Roman" panose="02020603050405020304" pitchFamily="18" charset="0"/>
                <a:cs typeface="Times New Roman" panose="02020603050405020304" pitchFamily="18" charset="0"/>
              </a:rPr>
              <a:t>  </a:t>
            </a:r>
            <a:r>
              <a:rPr lang="en-US" sz="5800" b="1" dirty="0">
                <a:latin typeface="Times New Roman" panose="02020603050405020304" pitchFamily="18" charset="0"/>
                <a:cs typeface="Times New Roman" panose="02020603050405020304" pitchFamily="18" charset="0"/>
              </a:rPr>
              <a:t>Abstract </a:t>
            </a:r>
            <a:r>
              <a:rPr lang="en-US" sz="5800"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marL="285750" marR="107950" indent="-285750" algn="just">
              <a:lnSpc>
                <a:spcPct val="150000"/>
              </a:lnSpc>
              <a:spcBef>
                <a:spcPts val="1200"/>
              </a:spcBef>
            </a:pPr>
            <a:r>
              <a:rPr lang="en-IN" sz="2500" dirty="0">
                <a:effectLst/>
                <a:latin typeface="Times New Roman" panose="02020603050405020304" pitchFamily="18" charset="0"/>
                <a:ea typeface="Times New Roman" panose="02020603050405020304" pitchFamily="18" charset="0"/>
              </a:rPr>
              <a:t>The "Real-Time Object Detection and Distance Mapping" project is an intelligent vision system that can detect, identify, and calculate the relative distance of objects in the context of real-world scenarios. The project makes use of the YOLOv8 deep learning framework, which boasts high accuracy and is capable of delivering real-time performance, to identify differing objects within stationary images and ongoing video streams. Using calibrated focal lengths and object size estimations, the system calculates the physical distance of the detected objects from the camera to a high degree of accuracy. </a:t>
            </a:r>
          </a:p>
          <a:p>
            <a:pPr marL="285750" marR="107950" indent="-285750" algn="just">
              <a:lnSpc>
                <a:spcPct val="150000"/>
              </a:lnSpc>
              <a:spcBef>
                <a:spcPts val="1200"/>
              </a:spcBef>
            </a:pPr>
            <a:r>
              <a:rPr lang="en-IN" sz="2500" dirty="0">
                <a:effectLst/>
                <a:latin typeface="Times New Roman" panose="02020603050405020304" pitchFamily="18" charset="0"/>
                <a:ea typeface="Times New Roman" panose="02020603050405020304" pitchFamily="18" charset="0"/>
              </a:rPr>
              <a:t>The system consists of several modules: video-based multi-object tracking with distance annotations, static image object detection, and webcam monitoring in real time with integrated audio feedback. Bounding box detection, centre point detection, pixel-to-meter translation, and visual feedback overlays are used for processing video input in real time, while an optionally integrated text-to-speech interface delivers auditory warnings for users based on their proximity to safety thresholds. The multi-feedback mode offers increased situational awareness and availability for users, including potential benefits for visually impaired individuals.</a:t>
            </a:r>
          </a:p>
          <a:p>
            <a:pPr marL="342900" lvl="0" indent="-139700" algn="l" rtl="0">
              <a:spcBef>
                <a:spcPts val="640"/>
              </a:spcBef>
              <a:spcAft>
                <a:spcPts val="0"/>
              </a:spcAft>
              <a:buClr>
                <a:schemeClr val="dk1"/>
              </a:buClr>
              <a:buSzPts val="3200"/>
              <a:buNone/>
            </a:pPr>
            <a:endParaRPr lang="en-IN"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p:cNvSpPr txBox="1">
            <a:spLocks noGrp="1"/>
          </p:cNvSpPr>
          <p:nvPr>
            <p:ph type="body" idx="1"/>
          </p:nvPr>
        </p:nvSpPr>
        <p:spPr>
          <a:xfrm>
            <a:off x="457200" y="1436754"/>
            <a:ext cx="8229600" cy="481779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ts val="320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Introduction  </a:t>
            </a:r>
            <a:r>
              <a:rPr lang="en-US" dirty="0">
                <a:latin typeface="Times New Roman" panose="02020603050405020304" pitchFamily="18" charset="0"/>
                <a:cs typeface="Times New Roman" panose="02020603050405020304" pitchFamily="18" charset="0"/>
              </a:rPr>
              <a:t>     </a:t>
            </a:r>
          </a:p>
          <a:p>
            <a:pPr marL="0" lvl="0" indent="0" algn="l" rtl="0">
              <a:spcBef>
                <a:spcPts val="0"/>
              </a:spcBef>
              <a:spcAft>
                <a:spcPts val="0"/>
              </a:spcAft>
              <a:buClr>
                <a:schemeClr val="dk1"/>
              </a:buClr>
              <a:buSzPts val="3200"/>
              <a:buNone/>
            </a:pPr>
            <a:endParaRPr lang="en-US" dirty="0">
              <a:latin typeface="Times New Roman" panose="02020603050405020304" pitchFamily="18" charset="0"/>
              <a:cs typeface="Times New Roman" panose="02020603050405020304" pitchFamily="18" charset="0"/>
            </a:endParaRPr>
          </a:p>
          <a:p>
            <a:pPr marL="285750" indent="-285750" algn="just">
              <a:spcBef>
                <a:spcPts val="0"/>
              </a:spcBef>
              <a:buSzPts val="3200"/>
            </a:pPr>
            <a:r>
              <a:rPr lang="en-IN" sz="1800" dirty="0">
                <a:effectLst/>
                <a:latin typeface="Times New Roman" panose="02020603050405020304" pitchFamily="18" charset="0"/>
                <a:ea typeface="Times New Roman" panose="02020603050405020304" pitchFamily="18" charset="0"/>
              </a:rPr>
              <a:t>Computer vision has seen dramatic improvement with advances from deep learning-based object detection   models. Among these, YOLO (You Only Look Once)-based models have emerged as the de facto choice for object detection in real time, offering an optimum trade-off between speed and precision. While object detection provides a system with the ability to detect and localize an object within a scene, it lacks the ability to perceive spatial relationships among the detected object and the camera. This shortcoming is overcome by distance mapping, providing invaluable spatial insight that helps improve decisions across applications from autonomous systems to assistive technologies for humans.</a:t>
            </a:r>
          </a:p>
          <a:p>
            <a:pPr marL="285750" marR="107950" indent="-285750" algn="just">
              <a:spcBef>
                <a:spcPts val="1200"/>
              </a:spcBef>
            </a:pPr>
            <a:r>
              <a:rPr lang="en-IN" sz="1800" dirty="0">
                <a:effectLst/>
                <a:latin typeface="Times New Roman" panose="02020603050405020304" pitchFamily="18" charset="0"/>
                <a:ea typeface="Times New Roman" panose="02020603050405020304" pitchFamily="18" charset="0"/>
              </a:rPr>
              <a:t>The "Real-Time Object Detection and Distance Mapping" project is one that brings these two fundamental abilities together to form an integrated, real-time system. The project utilizes YOLOv8, also one of the newer versions of the YOLO system, for object detection, which is characterized by its lightweight design, high-speed inference, and high accuracy, ideal for use for real-world applications on commodity hardware without the need for costly GPUs.</a:t>
            </a:r>
          </a:p>
          <a:p>
            <a:pPr algn="just"/>
            <a:endParaRPr lang="en-US" sz="3200" dirty="0">
              <a:latin typeface="Times New Roman" panose="02020603050405020304" pitchFamily="18" charset="0"/>
              <a:cs typeface="Times New Roman" panose="02020603050405020304" pitchFamily="18" charset="0"/>
            </a:endParaRPr>
          </a:p>
          <a:p>
            <a:pPr marL="342900" lvl="0" indent="-139700" algn="l" rtl="0">
              <a:spcBef>
                <a:spcPts val="640"/>
              </a:spcBef>
              <a:spcAft>
                <a:spcPts val="0"/>
              </a:spcAft>
              <a:buClr>
                <a:schemeClr val="dk1"/>
              </a:buClr>
              <a:buSzPts val="3200"/>
              <a:buNone/>
            </a:pPr>
            <a:endParaRPr dirty="0">
              <a:latin typeface="Times New Roman" panose="02020603050405020304" pitchFamily="18" charset="0"/>
              <a:cs typeface="Times New Roman" panose="02020603050405020304" pitchFamily="18" charset="0"/>
            </a:endParaRPr>
          </a:p>
          <a:p>
            <a:pPr marL="342900" lvl="0" indent="-139700" algn="l" rtl="0">
              <a:spcBef>
                <a:spcPts val="640"/>
              </a:spcBef>
              <a:spcAft>
                <a:spcPts val="0"/>
              </a:spcAft>
              <a:buClr>
                <a:schemeClr val="dk1"/>
              </a:buClr>
              <a:buSzPts val="3200"/>
              <a:buNone/>
            </a:pPr>
            <a:endParaRPr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066086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p:cNvSpPr txBox="1">
            <a:spLocks noGrp="1"/>
          </p:cNvSpPr>
          <p:nvPr>
            <p:ph type="body" idx="1"/>
          </p:nvPr>
        </p:nvSpPr>
        <p:spPr>
          <a:xfrm>
            <a:off x="457200" y="1417638"/>
            <a:ext cx="8229600" cy="493871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ts val="3200"/>
              <a:buNone/>
            </a:pPr>
            <a:r>
              <a:rPr lang="en-US"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Existing System</a:t>
            </a:r>
          </a:p>
          <a:p>
            <a:pPr marL="0" lvl="0" indent="0" algn="l" rtl="0">
              <a:spcBef>
                <a:spcPts val="0"/>
              </a:spcBef>
              <a:spcAft>
                <a:spcPts val="0"/>
              </a:spcAft>
              <a:buClr>
                <a:schemeClr val="dk1"/>
              </a:buClr>
              <a:buSzPts val="3200"/>
              <a:buNone/>
            </a:pPr>
            <a:endParaRPr lang="en-US" sz="2800" b="1" dirty="0">
              <a:latin typeface="Times New Roman" panose="02020603050405020304" pitchFamily="18" charset="0"/>
              <a:cs typeface="Times New Roman" panose="02020603050405020304" pitchFamily="18" charset="0"/>
            </a:endParaRPr>
          </a:p>
          <a:p>
            <a:pPr marL="285750" marR="107950" indent="-285750" algn="just">
              <a:spcBef>
                <a:spcPts val="600"/>
              </a:spcBef>
            </a:pPr>
            <a:r>
              <a:rPr lang="en-IN" sz="1800" dirty="0">
                <a:effectLst/>
                <a:latin typeface="Times New Roman" panose="02020603050405020304" pitchFamily="18" charset="0"/>
                <a:ea typeface="Times New Roman" panose="02020603050405020304" pitchFamily="18" charset="0"/>
              </a:rPr>
              <a:t>Currently, many existing systems focus on either object detection or distance estimation, but few combine both features in a seamless, real-time manner. For object detection, popular deep learning models like YOLO, SSD, and Faster R-CNN are commonly used. These models are highly effective at detecting objects in images and videos, with YOLO being particularly </a:t>
            </a:r>
            <a:r>
              <a:rPr lang="en-IN" sz="1800" dirty="0" err="1">
                <a:effectLst/>
                <a:latin typeface="Times New Roman" panose="02020603050405020304" pitchFamily="18" charset="0"/>
                <a:ea typeface="Times New Roman" panose="02020603050405020304" pitchFamily="18" charset="0"/>
              </a:rPr>
              <a:t>favored</a:t>
            </a:r>
            <a:r>
              <a:rPr lang="en-IN" sz="1800" dirty="0">
                <a:effectLst/>
                <a:latin typeface="Times New Roman" panose="02020603050405020304" pitchFamily="18" charset="0"/>
                <a:ea typeface="Times New Roman" panose="02020603050405020304" pitchFamily="18" charset="0"/>
              </a:rPr>
              <a:t> for its speed and efficiency. It’s widely used in applications like autonomous vehicles and surveillance systems. However, while these systems are great at identifying objects, they don't typically offer any information about how far away those objects are from the camera.</a:t>
            </a:r>
          </a:p>
          <a:p>
            <a:pPr marL="0" marR="107950" indent="0" algn="just">
              <a:spcBef>
                <a:spcPts val="600"/>
              </a:spcBef>
              <a:buNone/>
            </a:pPr>
            <a:endParaRPr lang="en-IN" sz="1800" dirty="0">
              <a:effectLst/>
              <a:latin typeface="Times New Roman" panose="02020603050405020304" pitchFamily="18" charset="0"/>
              <a:ea typeface="Times New Roman" panose="02020603050405020304" pitchFamily="18" charset="0"/>
            </a:endParaRPr>
          </a:p>
          <a:p>
            <a:pPr marL="219075" marR="107950" algn="just">
              <a:spcBef>
                <a:spcPts val="600"/>
              </a:spcBef>
            </a:pPr>
            <a:r>
              <a:rPr lang="en-IN" sz="1800" dirty="0">
                <a:effectLst/>
                <a:latin typeface="Times New Roman" panose="02020603050405020304" pitchFamily="18" charset="0"/>
                <a:ea typeface="Times New Roman" panose="02020603050405020304" pitchFamily="18" charset="0"/>
              </a:rPr>
              <a:t>When it comes to estimating distances, existing solutions usually rely on specialized hardware such as LIDAR, stereo vision cameras, or structured light systems. While these technologies can provide accurate distance measurements, they tend to be expensive, complex, and often require high-powered hardware to function in real-time. Some systems use depth estimation models or stereo cameras to calculate distances, but these methods can be computationally expensive and may not always work reliably in fast-moving or dynamic environments.</a:t>
            </a:r>
          </a:p>
          <a:p>
            <a:pPr marL="0" lvl="0" indent="0" algn="l" rtl="0">
              <a:spcBef>
                <a:spcPts val="0"/>
              </a:spcBef>
              <a:spcAft>
                <a:spcPts val="0"/>
              </a:spcAft>
              <a:buClr>
                <a:schemeClr val="dk1"/>
              </a:buClr>
              <a:buSzPts val="3200"/>
              <a:buNone/>
            </a:pPr>
            <a:endParaRPr lang="en-US" sz="1400" b="1"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626857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0" indent="0">
              <a:spcBef>
                <a:spcPts val="0"/>
              </a:spcBef>
              <a:buSzPts val="3200"/>
              <a:buNone/>
            </a:pPr>
            <a:r>
              <a:rPr lang="en-US" b="1" dirty="0">
                <a:latin typeface="Times New Roman" panose="02020603050405020304" pitchFamily="18" charset="0"/>
                <a:cs typeface="Times New Roman" panose="02020603050405020304" pitchFamily="18" charset="0"/>
              </a:rPr>
              <a:t>Problem statement and Objectives </a:t>
            </a:r>
          </a:p>
          <a:p>
            <a:pPr marL="0" indent="0" algn="just">
              <a:spcBef>
                <a:spcPts val="0"/>
              </a:spcBef>
              <a:buSzPts val="3200"/>
              <a:buNone/>
            </a:pPr>
            <a:endParaRPr lang="en-US" sz="2000" dirty="0">
              <a:latin typeface="Times New Roman" panose="02020603050405020304" pitchFamily="18" charset="0"/>
              <a:cs typeface="Times New Roman" panose="02020603050405020304" pitchFamily="18" charset="0"/>
            </a:endParaRPr>
          </a:p>
          <a:p>
            <a:pPr marL="285750" marR="107950" indent="-285750" algn="just">
              <a:spcBef>
                <a:spcPts val="1200"/>
              </a:spcBef>
            </a:pPr>
            <a:r>
              <a:rPr lang="en-IN" sz="1800" dirty="0">
                <a:effectLst/>
                <a:latin typeface="Times New Roman" panose="02020603050405020304" pitchFamily="18" charset="0"/>
                <a:ea typeface="Times New Roman" panose="02020603050405020304" pitchFamily="18" charset="0"/>
              </a:rPr>
              <a:t>In today’s world, many technologies rely on being able to detect and understand objects around them. While models like YOLO have made huge strides in quickly identifying objects in real time, they still face a big limitation: they can’t tell us how far away these objects are from the camera or sensor. This lack of spatial awareness creates problems in areas where knowing the distance to an object is crucial—like in autonomous driving, safety systems, and assistive technologies.</a:t>
            </a:r>
          </a:p>
          <a:p>
            <a:pPr marL="342900" marR="107950" lvl="0" indent="-342900" algn="just">
              <a:spcBef>
                <a:spcPts val="1200"/>
              </a:spcBef>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rPr>
              <a:t>Self-driving cars</a:t>
            </a:r>
            <a:r>
              <a:rPr lang="en-IN" sz="1800" dirty="0">
                <a:effectLst/>
                <a:latin typeface="Times New Roman" panose="02020603050405020304" pitchFamily="18" charset="0"/>
                <a:ea typeface="Times New Roman" panose="02020603050405020304" pitchFamily="18" charset="0"/>
              </a:rPr>
              <a:t> need to not only detect pedestrians or other vehicles but also understand how far away they are to avoid crashes.</a:t>
            </a:r>
          </a:p>
          <a:p>
            <a:pPr marL="342900" marR="107950" lvl="0" indent="-342900" algn="just">
              <a:spcBef>
                <a:spcPts val="1200"/>
              </a:spcBef>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rPr>
              <a:t>Assistive technology</a:t>
            </a:r>
            <a:r>
              <a:rPr lang="en-IN" sz="1800" dirty="0">
                <a:effectLst/>
                <a:latin typeface="Times New Roman" panose="02020603050405020304" pitchFamily="18" charset="0"/>
                <a:ea typeface="Times New Roman" panose="02020603050405020304" pitchFamily="18" charset="0"/>
              </a:rPr>
              <a:t> for visually impaired individuals could be much more helpful if it could detect objects in their path and tell them how close those objects are, helping them move around more safely.</a:t>
            </a:r>
          </a:p>
          <a:p>
            <a:pPr marL="342900" marR="107950" lvl="0" indent="-342900" algn="just">
              <a:spcBef>
                <a:spcPts val="1200"/>
              </a:spcBef>
              <a:buFont typeface="Symbol" panose="05050102010706020507" pitchFamily="18" charset="2"/>
              <a:buChar char=""/>
              <a:tabLst>
                <a:tab pos="457200" algn="l"/>
              </a:tabLst>
            </a:pPr>
            <a:r>
              <a:rPr lang="en-IN" sz="1800" b="1" dirty="0">
                <a:effectLst/>
                <a:latin typeface="Times New Roman" panose="02020603050405020304" pitchFamily="18" charset="0"/>
                <a:ea typeface="Times New Roman" panose="02020603050405020304" pitchFamily="18" charset="0"/>
              </a:rPr>
              <a:t>Industrial systems</a:t>
            </a:r>
            <a:r>
              <a:rPr lang="en-IN" sz="1800" dirty="0">
                <a:effectLst/>
                <a:latin typeface="Times New Roman" panose="02020603050405020304" pitchFamily="18" charset="0"/>
                <a:ea typeface="Times New Roman" panose="02020603050405020304" pitchFamily="18" charset="0"/>
              </a:rPr>
              <a:t> that track equipment and people need to know how close objects are to each other to avoid accidents and optimize operations.</a:t>
            </a:r>
          </a:p>
          <a:p>
            <a:pPr marL="0" lvl="0" indent="0" algn="ctr" rtl="0">
              <a:spcBef>
                <a:spcPts val="0"/>
              </a:spcBef>
              <a:spcAft>
                <a:spcPts val="0"/>
              </a:spcAft>
              <a:buClr>
                <a:schemeClr val="dk1"/>
              </a:buClr>
              <a:buSzPts val="3200"/>
              <a:buNone/>
            </a:pPr>
            <a:endParaRPr dirty="0">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9" name="Google Shape;10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199" y="1299258"/>
            <a:ext cx="8524753" cy="4525963"/>
          </a:xfrm>
          <a:prstGeom prst="rect">
            <a:avLst/>
          </a:prstGeom>
          <a:noFill/>
          <a:ln>
            <a:noFill/>
          </a:ln>
        </p:spPr>
        <p:txBody>
          <a:bodyPr spcFirstLastPara="1" wrap="square" lIns="91425" tIns="45700" rIns="91425" bIns="45700" anchor="t" anchorCtr="0">
            <a:normAutofit lnSpcReduction="10000"/>
          </a:bodyPr>
          <a:lstStyle/>
          <a:p>
            <a:pPr marL="0" indent="0">
              <a:spcBef>
                <a:spcPts val="0"/>
              </a:spcBef>
              <a:buSzPts val="3200"/>
              <a:buNone/>
            </a:pPr>
            <a:r>
              <a:rPr lang="en-US" sz="2800" b="1" dirty="0">
                <a:latin typeface="Times New Roman" panose="02020603050405020304" pitchFamily="18" charset="0"/>
                <a:cs typeface="Times New Roman" panose="02020603050405020304" pitchFamily="18" charset="0"/>
              </a:rPr>
              <a:t>Problem statement and Objectives</a:t>
            </a:r>
          </a:p>
          <a:p>
            <a:pPr marL="0" indent="0">
              <a:spcBef>
                <a:spcPts val="0"/>
              </a:spcBef>
              <a:buSzPts val="3200"/>
              <a:buNone/>
            </a:pPr>
            <a:endParaRPr lang="en-US" sz="2800" b="1" dirty="0">
              <a:latin typeface="Times New Roman" panose="02020603050405020304" pitchFamily="18" charset="0"/>
              <a:cs typeface="Times New Roman" panose="02020603050405020304" pitchFamily="18" charset="0"/>
            </a:endParaRPr>
          </a:p>
          <a:p>
            <a:pPr marL="286385" marR="107950" indent="-285750" algn="just">
              <a:spcBef>
                <a:spcPts val="1200"/>
              </a:spcBef>
            </a:pPr>
            <a:r>
              <a:rPr lang="en-IN" sz="1800" dirty="0">
                <a:effectLst/>
                <a:latin typeface="Times New Roman" panose="02020603050405020304" pitchFamily="18" charset="0"/>
                <a:ea typeface="Times New Roman" panose="02020603050405020304" pitchFamily="18" charset="0"/>
              </a:rPr>
              <a:t>The goal of the "Real-Time Object Detection and Distance Mapping" project is to create a system that not only detects objects quickly and accurately but also estimates how far those objects are from the camera or sensor, all in real time. By using the YOLOv8 deep learning model, the system can identify various objects—like people, vehicles, or obstacles—and then calculate their distance using methods like pixel-to-meter scaling and focal length estimation. This will give a clearer understanding of the environment, making it easier to interact with and respond to what's around you.</a:t>
            </a:r>
          </a:p>
          <a:p>
            <a:pPr marL="215900" marR="107950" indent="-215265" algn="just">
              <a:spcBef>
                <a:spcPts val="1200"/>
              </a:spcBef>
            </a:pPr>
            <a:r>
              <a:rPr lang="en-IN" sz="1800" dirty="0">
                <a:effectLst/>
                <a:latin typeface="Times New Roman" panose="02020603050405020304" pitchFamily="18" charset="0"/>
                <a:ea typeface="Times New Roman" panose="02020603050405020304" pitchFamily="18" charset="0"/>
              </a:rPr>
              <a:t>The system will provide both visual and auditory feedback. It will display the location of detected objects through bounding boxes and also use text-to-speech technology to warn users when objects are getting too close. This is particularly useful in scenarios like autonomous driving, helping visually impaired individuals navigate, or improving safety in industrial settings—any situation where knowing the proximity of objects can help make better, safer decisions.</a:t>
            </a:r>
          </a:p>
          <a:p>
            <a:pPr marL="0" indent="0">
              <a:spcBef>
                <a:spcPts val="0"/>
              </a:spcBef>
              <a:buSzPts val="3200"/>
              <a:buNone/>
            </a:pPr>
            <a:endParaRPr lang="en-US" sz="1800" b="1" dirty="0">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9" name="Google Shape;10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545296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p:cNvSpPr txBox="1">
            <a:spLocks noGrp="1"/>
          </p:cNvSpPr>
          <p:nvPr>
            <p:ph type="body" idx="1"/>
          </p:nvPr>
        </p:nvSpPr>
        <p:spPr>
          <a:xfrm>
            <a:off x="457200" y="1417638"/>
            <a:ext cx="8378890" cy="482944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ts val="3200"/>
              <a:buNone/>
            </a:pPr>
            <a:r>
              <a:rPr lang="en-US" sz="3000" b="1" dirty="0">
                <a:latin typeface="Times New Roman" panose="02020603050405020304" pitchFamily="18" charset="0"/>
                <a:cs typeface="Times New Roman" panose="02020603050405020304" pitchFamily="18" charset="0"/>
              </a:rPr>
              <a:t>Proposed System  </a:t>
            </a:r>
          </a:p>
          <a:p>
            <a:pPr marL="0" lvl="0" indent="0" algn="l" rtl="0">
              <a:spcBef>
                <a:spcPts val="0"/>
              </a:spcBef>
              <a:spcAft>
                <a:spcPts val="0"/>
              </a:spcAft>
              <a:buClr>
                <a:schemeClr val="dk1"/>
              </a:buClr>
              <a:buSzPts val="3200"/>
              <a:buNone/>
            </a:pPr>
            <a:endParaRPr lang="en-US" sz="3000" b="1" dirty="0">
              <a:latin typeface="Times New Roman" panose="02020603050405020304" pitchFamily="18" charset="0"/>
              <a:cs typeface="Times New Roman" panose="02020603050405020304" pitchFamily="18" charset="0"/>
            </a:endParaRPr>
          </a:p>
          <a:p>
            <a:pPr marL="285750" marR="107950" indent="-285750" algn="just">
              <a:spcBef>
                <a:spcPts val="600"/>
              </a:spcBef>
            </a:pPr>
            <a:r>
              <a:rPr lang="en-IN" sz="1800" dirty="0">
                <a:effectLst/>
                <a:latin typeface="Times New Roman" panose="02020603050405020304" pitchFamily="18" charset="0"/>
                <a:ea typeface="Times New Roman" panose="02020603050405020304" pitchFamily="18" charset="0"/>
              </a:rPr>
              <a:t>The proposed system for the "Real-Time Object Detection and Distance Mapping" project aims to bridge the gap between object detection and spatial awareness in a way that is both efficient and accessible. Using the YOLOv8 deep learning model, the system will be able to detect objects in real time, such as people, vehicles, or obstacles, within images or video streams. This real-time detection will be combined with a unique feature: distance estimation. By using geometric methods like pixel-to-meter scaling and focal length estimation, the system will calculate the physical distance between the detected objects and the camera, providing valuable spatial awareness.</a:t>
            </a:r>
          </a:p>
          <a:p>
            <a:pPr marL="285750" marR="107950" indent="-285750" algn="just">
              <a:spcBef>
                <a:spcPts val="600"/>
              </a:spcBef>
            </a:pPr>
            <a:endParaRPr lang="en-IN" sz="1800" dirty="0">
              <a:effectLst/>
              <a:latin typeface="Times New Roman" panose="02020603050405020304" pitchFamily="18" charset="0"/>
              <a:ea typeface="Times New Roman" panose="02020603050405020304" pitchFamily="18" charset="0"/>
            </a:endParaRPr>
          </a:p>
          <a:p>
            <a:pPr marL="219075" marR="107950" algn="just">
              <a:spcBef>
                <a:spcPts val="600"/>
              </a:spcBef>
            </a:pPr>
            <a:r>
              <a:rPr lang="en-IN" sz="1800" dirty="0">
                <a:effectLst/>
                <a:latin typeface="Times New Roman" panose="02020603050405020304" pitchFamily="18" charset="0"/>
                <a:ea typeface="Times New Roman" panose="02020603050405020304" pitchFamily="18" charset="0"/>
              </a:rPr>
              <a:t>In addition to identifying objects and calculating their distances, the system will offer both visual and auditory feedback. Visual feedback will be provided through bounding boxes around detected objects, allowing users to see their locations clearly. For added accessibility, particularly for visually impaired users, the system will also incorporate a text-to-speech feature that gives real-time audio alerts about the proximity of objects. This makes it especially useful in assistive technologies, autonomous navigation, and industrial safety, where being aware of nearby objects in real time is critical.</a:t>
            </a: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799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FCE3C-D1EB-2ADA-5D04-3F6852FB6A48}"/>
              </a:ext>
            </a:extLst>
          </p:cNvPr>
          <p:cNvSpPr>
            <a:spLocks noGrp="1"/>
          </p:cNvSpPr>
          <p:nvPr>
            <p:ph type="dt" idx="10"/>
          </p:nvPr>
        </p:nvSpPr>
        <p:spPr/>
        <p:txBody>
          <a:bodyPr/>
          <a:lstStyle/>
          <a:p>
            <a:r>
              <a:rPr lang="en-US"/>
              <a:t>3/08/2024</a:t>
            </a:r>
          </a:p>
        </p:txBody>
      </p:sp>
      <p:sp>
        <p:nvSpPr>
          <p:cNvPr id="3" name="Footer Placeholder 2">
            <a:extLst>
              <a:ext uri="{FF2B5EF4-FFF2-40B4-BE49-F238E27FC236}">
                <a16:creationId xmlns:a16="http://schemas.microsoft.com/office/drawing/2014/main" id="{A4BBDB28-2070-BF0D-FF9F-6C30544EDC92}"/>
              </a:ext>
            </a:extLst>
          </p:cNvPr>
          <p:cNvSpPr>
            <a:spLocks noGrp="1"/>
          </p:cNvSpPr>
          <p:nvPr>
            <p:ph type="ftr" idx="11"/>
          </p:nvPr>
        </p:nvSpPr>
        <p:spPr/>
        <p:txBody>
          <a:bodyPr/>
          <a:lstStyle/>
          <a:p>
            <a:endParaRPr lang="en-IN"/>
          </a:p>
        </p:txBody>
      </p:sp>
      <p:sp>
        <p:nvSpPr>
          <p:cNvPr id="4" name="Slide Number Placeholder 3">
            <a:extLst>
              <a:ext uri="{FF2B5EF4-FFF2-40B4-BE49-F238E27FC236}">
                <a16:creationId xmlns:a16="http://schemas.microsoft.com/office/drawing/2014/main" id="{4C06071B-3789-CFA4-F148-D2ED9DE8C7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7" name="TextBox 6">
            <a:extLst>
              <a:ext uri="{FF2B5EF4-FFF2-40B4-BE49-F238E27FC236}">
                <a16:creationId xmlns:a16="http://schemas.microsoft.com/office/drawing/2014/main" id="{BCB421CB-DB4C-F48D-A4F0-4B8D623178A1}"/>
              </a:ext>
            </a:extLst>
          </p:cNvPr>
          <p:cNvSpPr txBox="1"/>
          <p:nvPr/>
        </p:nvSpPr>
        <p:spPr>
          <a:xfrm>
            <a:off x="702299" y="1411848"/>
            <a:ext cx="514232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Architecture Diagram                   </a:t>
            </a:r>
          </a:p>
          <a:p>
            <a:endParaRPr lang="en-IN" sz="3200" dirty="0">
              <a:latin typeface="Times New Roman" panose="02020603050405020304" pitchFamily="18" charset="0"/>
              <a:cs typeface="Times New Roman" panose="02020603050405020304" pitchFamily="18" charset="0"/>
            </a:endParaRPr>
          </a:p>
        </p:txBody>
      </p:sp>
      <p:pic>
        <p:nvPicPr>
          <p:cNvPr id="10" name="Google Shape;98;p2">
            <a:extLst>
              <a:ext uri="{FF2B5EF4-FFF2-40B4-BE49-F238E27FC236}">
                <a16:creationId xmlns:a16="http://schemas.microsoft.com/office/drawing/2014/main" id="{3C872985-A698-680F-61C5-9FA407626D0B}"/>
              </a:ext>
            </a:extLst>
          </p:cNvPr>
          <p:cNvPicPr preferRelativeResize="0"/>
          <p:nvPr/>
        </p:nvPicPr>
        <p:blipFill rotWithShape="1">
          <a:blip r:embed="rId2">
            <a:alphaModFix/>
          </a:blip>
          <a:srcRect/>
          <a:stretch/>
        </p:blipFill>
        <p:spPr>
          <a:xfrm>
            <a:off x="284583" y="346798"/>
            <a:ext cx="2237740" cy="755015"/>
          </a:xfrm>
          <a:prstGeom prst="rect">
            <a:avLst/>
          </a:prstGeom>
          <a:noFill/>
          <a:ln>
            <a:noFill/>
          </a:ln>
        </p:spPr>
      </p:pic>
      <p:pic>
        <p:nvPicPr>
          <p:cNvPr id="5" name="Picture 4">
            <a:extLst>
              <a:ext uri="{FF2B5EF4-FFF2-40B4-BE49-F238E27FC236}">
                <a16:creationId xmlns:a16="http://schemas.microsoft.com/office/drawing/2014/main" id="{08BE0795-5F1A-1364-9C7B-C448655FC9C3}"/>
              </a:ext>
            </a:extLst>
          </p:cNvPr>
          <p:cNvPicPr>
            <a:picLocks noChangeAspect="1"/>
          </p:cNvPicPr>
          <p:nvPr/>
        </p:nvPicPr>
        <p:blipFill>
          <a:blip r:embed="rId3"/>
          <a:stretch>
            <a:fillRect/>
          </a:stretch>
        </p:blipFill>
        <p:spPr>
          <a:xfrm>
            <a:off x="358475" y="2253517"/>
            <a:ext cx="8661484" cy="3261164"/>
          </a:xfrm>
          <a:prstGeom prst="rect">
            <a:avLst/>
          </a:prstGeom>
        </p:spPr>
      </p:pic>
    </p:spTree>
    <p:extLst>
      <p:ext uri="{BB962C8B-B14F-4D97-AF65-F5344CB8AC3E}">
        <p14:creationId xmlns:p14="http://schemas.microsoft.com/office/powerpoint/2010/main" val="2210958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600200"/>
            <a:ext cx="7903029" cy="4525963"/>
          </a:xfrm>
          <a:prstGeom prst="rect">
            <a:avLst/>
          </a:prstGeom>
          <a:noFill/>
          <a:ln>
            <a:noFill/>
          </a:ln>
        </p:spPr>
        <p:txBody>
          <a:bodyPr spcFirstLastPara="1" wrap="square" lIns="91425" tIns="45700" rIns="91425" bIns="45700" anchor="t" anchorCtr="0">
            <a:normAutofit fontScale="92500" lnSpcReduction="10000"/>
          </a:bodyPr>
          <a:lstStyle/>
          <a:p>
            <a:pPr marL="571500" lvl="1" indent="0">
              <a:buNone/>
            </a:pPr>
            <a:r>
              <a:rPr lang="en-US" sz="3200" b="1" dirty="0">
                <a:latin typeface="Times New Roman" panose="02020603050405020304" pitchFamily="18" charset="0"/>
                <a:cs typeface="Times New Roman" panose="02020603050405020304" pitchFamily="18" charset="0"/>
              </a:rPr>
              <a:t>References</a:t>
            </a:r>
          </a:p>
          <a:p>
            <a:pPr marL="219710" marR="107950" algn="just">
              <a:spcBef>
                <a:spcPts val="600"/>
              </a:spcBef>
              <a:buNone/>
            </a:pPr>
            <a:r>
              <a:rPr lang="en-US" sz="1800" dirty="0">
                <a:effectLst/>
                <a:latin typeface="Times New Roman" panose="02020603050405020304" pitchFamily="18" charset="0"/>
                <a:ea typeface="Times New Roman" panose="02020603050405020304" pitchFamily="18" charset="0"/>
              </a:rPr>
              <a:t>[1] Appiah, Emmanuel Owusu, and Solomon Mensah. "Object detection in adverse weather condition for autonomous vehicles." Multimedia Tools and Applications 83, no. 9 (2024): 28235-28261.</a:t>
            </a:r>
            <a:endParaRPr lang="en-IN" sz="1800" dirty="0">
              <a:effectLst/>
              <a:latin typeface="Times New Roman" panose="02020603050405020304" pitchFamily="18" charset="0"/>
              <a:ea typeface="Times New Roman" panose="02020603050405020304" pitchFamily="18" charset="0"/>
            </a:endParaRPr>
          </a:p>
          <a:p>
            <a:pPr marL="219710" marR="107950" algn="just">
              <a:spcBef>
                <a:spcPts val="600"/>
              </a:spcBef>
              <a:buNone/>
            </a:pPr>
            <a:r>
              <a:rPr lang="en-US" sz="1800" dirty="0">
                <a:effectLst/>
                <a:latin typeface="Times New Roman" panose="02020603050405020304" pitchFamily="18" charset="0"/>
                <a:ea typeface="Times New Roman" panose="02020603050405020304" pitchFamily="18" charset="0"/>
              </a:rPr>
              <a:t>[2] Yeong, De Jong, Gustavo Velasco-Hernandez, John Barry, and Joseph Walsh. "Sensor and sensor fusion technology in autonomous vehicles: A review." Sensors 21, no. 6 (2021): 2140. </a:t>
            </a:r>
            <a:endParaRPr lang="en-IN" sz="1800" dirty="0">
              <a:effectLst/>
              <a:latin typeface="Times New Roman" panose="02020603050405020304" pitchFamily="18" charset="0"/>
              <a:ea typeface="Times New Roman" panose="02020603050405020304" pitchFamily="18" charset="0"/>
            </a:endParaRPr>
          </a:p>
          <a:p>
            <a:pPr marL="219710" marR="107950" algn="just">
              <a:spcBef>
                <a:spcPts val="600"/>
              </a:spcBef>
              <a:buNone/>
            </a:pPr>
            <a:r>
              <a:rPr lang="en-US" sz="1800" dirty="0">
                <a:effectLst/>
                <a:latin typeface="Times New Roman" panose="02020603050405020304" pitchFamily="18" charset="0"/>
                <a:ea typeface="Times New Roman" panose="02020603050405020304" pitchFamily="18" charset="0"/>
              </a:rPr>
              <a:t>[3] Sarasa-</a:t>
            </a:r>
            <a:r>
              <a:rPr lang="en-US" sz="1800" dirty="0" err="1">
                <a:effectLst/>
                <a:latin typeface="Times New Roman" panose="02020603050405020304" pitchFamily="18" charset="0"/>
                <a:ea typeface="Times New Roman" panose="02020603050405020304" pitchFamily="18" charset="0"/>
              </a:rPr>
              <a:t>Cabezuelo</a:t>
            </a:r>
            <a:r>
              <a:rPr lang="en-US" sz="1800" dirty="0">
                <a:effectLst/>
                <a:latin typeface="Times New Roman" panose="02020603050405020304" pitchFamily="18" charset="0"/>
                <a:ea typeface="Times New Roman" panose="02020603050405020304" pitchFamily="18" charset="0"/>
              </a:rPr>
              <a:t>, Antonio. "Prediction of rainfall in Australia using machine learning." Information 13, no. 4 (2022): 163. </a:t>
            </a:r>
            <a:endParaRPr lang="en-IN" sz="1800" dirty="0">
              <a:effectLst/>
              <a:latin typeface="Times New Roman" panose="02020603050405020304" pitchFamily="18" charset="0"/>
              <a:ea typeface="Times New Roman" panose="02020603050405020304" pitchFamily="18" charset="0"/>
            </a:endParaRPr>
          </a:p>
          <a:p>
            <a:pPr marL="219710" marR="107950" algn="just">
              <a:spcBef>
                <a:spcPts val="600"/>
              </a:spcBef>
              <a:buNone/>
            </a:pPr>
            <a:r>
              <a:rPr lang="en-US" sz="1800" dirty="0">
                <a:effectLst/>
                <a:latin typeface="Times New Roman" panose="02020603050405020304" pitchFamily="18" charset="0"/>
                <a:ea typeface="Times New Roman" panose="02020603050405020304" pitchFamily="18" charset="0"/>
              </a:rPr>
              <a:t>[4] Wason, Ritika, Parul Arora, Vishal Jain, Devansh Arora, and M. N. Hoda. "Exploring the Convergence of Artificial Intelligence and Mechatronics in Autonomous Driving." Computational Intelligent Techniques in Mechatronics (2024): 297-316. </a:t>
            </a:r>
            <a:endParaRPr lang="en-IN" sz="1800" dirty="0">
              <a:effectLst/>
              <a:latin typeface="Times New Roman" panose="02020603050405020304" pitchFamily="18" charset="0"/>
              <a:ea typeface="Times New Roman" panose="02020603050405020304" pitchFamily="18" charset="0"/>
            </a:endParaRPr>
          </a:p>
          <a:p>
            <a:pPr marL="219710" marR="107950" algn="just">
              <a:spcBef>
                <a:spcPts val="600"/>
              </a:spcBef>
              <a:buNone/>
            </a:pPr>
            <a:r>
              <a:rPr lang="en-US" sz="1800" dirty="0">
                <a:effectLst/>
                <a:latin typeface="Times New Roman" panose="02020603050405020304" pitchFamily="18" charset="0"/>
                <a:ea typeface="Times New Roman" panose="02020603050405020304" pitchFamily="18" charset="0"/>
              </a:rPr>
              <a:t>[5] </a:t>
            </a:r>
            <a:r>
              <a:rPr lang="en-US" sz="1800" dirty="0" err="1">
                <a:effectLst/>
                <a:latin typeface="Times New Roman" panose="02020603050405020304" pitchFamily="18" charset="0"/>
                <a:ea typeface="Times New Roman" panose="02020603050405020304" pitchFamily="18" charset="0"/>
              </a:rPr>
              <a:t>Ghintab</a:t>
            </a:r>
            <a:r>
              <a:rPr lang="en-US" sz="1800" dirty="0">
                <a:effectLst/>
                <a:latin typeface="Times New Roman" panose="02020603050405020304" pitchFamily="18" charset="0"/>
                <a:ea typeface="Times New Roman" panose="02020603050405020304" pitchFamily="18" charset="0"/>
              </a:rPr>
              <a:t>, Shahad S., and Mohammed Y. Hassan. "Localization for self-driving vehicles based on deep learning networks and RGB cameras." International Journal of Advanced Technology and Engineering Exploration 10, no. 105 (2023): 1016. </a:t>
            </a:r>
            <a:endParaRPr lang="en-IN" sz="1800" dirty="0">
              <a:effectLst/>
              <a:latin typeface="Times New Roman" panose="02020603050405020304" pitchFamily="18" charset="0"/>
              <a:ea typeface="Times New Roman" panose="02020603050405020304" pitchFamily="18" charset="0"/>
            </a:endParaRPr>
          </a:p>
          <a:p>
            <a:pPr marL="571500" lvl="1" indent="0">
              <a:buNone/>
            </a:pPr>
            <a:endParaRPr lang="en-US" sz="1600" dirty="0">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9" name="Google Shape;10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721245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703DE40C-1D9C-89B5-974C-6C8C4EC0FAA6}"/>
            </a:ext>
          </a:extLst>
        </p:cNvPr>
        <p:cNvGrpSpPr/>
        <p:nvPr/>
      </p:nvGrpSpPr>
      <p:grpSpPr>
        <a:xfrm>
          <a:off x="0" y="0"/>
          <a:ext cx="0" cy="0"/>
          <a:chOff x="0" y="0"/>
          <a:chExt cx="0" cy="0"/>
        </a:xfrm>
      </p:grpSpPr>
      <p:sp>
        <p:nvSpPr>
          <p:cNvPr id="106" name="Google Shape;106;p5">
            <a:extLst>
              <a:ext uri="{FF2B5EF4-FFF2-40B4-BE49-F238E27FC236}">
                <a16:creationId xmlns:a16="http://schemas.microsoft.com/office/drawing/2014/main" id="{6AC7D245-2364-C4F3-9695-DE9F81900564}"/>
              </a:ext>
            </a:extLst>
          </p:cNvPr>
          <p:cNvSpPr txBox="1">
            <a:spLocks noGrp="1"/>
          </p:cNvSpPr>
          <p:nvPr>
            <p:ph type="body" idx="1"/>
          </p:nvPr>
        </p:nvSpPr>
        <p:spPr>
          <a:xfrm>
            <a:off x="457200" y="1600200"/>
            <a:ext cx="7903029" cy="4525963"/>
          </a:xfrm>
          <a:prstGeom prst="rect">
            <a:avLst/>
          </a:prstGeom>
          <a:noFill/>
          <a:ln>
            <a:noFill/>
          </a:ln>
        </p:spPr>
        <p:txBody>
          <a:bodyPr spcFirstLastPara="1" wrap="square" lIns="91425" tIns="45700" rIns="91425" bIns="45700" anchor="t" anchorCtr="0">
            <a:normAutofit fontScale="47500" lnSpcReduction="20000"/>
          </a:bodyPr>
          <a:lstStyle/>
          <a:p>
            <a:pPr marL="219710" marR="107950" algn="just">
              <a:spcBef>
                <a:spcPts val="600"/>
              </a:spcBef>
              <a:buNone/>
            </a:pPr>
            <a:r>
              <a:rPr lang="en-US" sz="5900" b="1" dirty="0">
                <a:latin typeface="Times New Roman" panose="02020603050405020304" pitchFamily="18" charset="0"/>
                <a:cs typeface="Times New Roman" panose="02020603050405020304" pitchFamily="18" charset="0"/>
              </a:rPr>
              <a:t>References</a:t>
            </a:r>
          </a:p>
          <a:p>
            <a:pPr marL="219710" marR="107950" algn="just">
              <a:spcBef>
                <a:spcPts val="600"/>
              </a:spcBef>
              <a:buNone/>
            </a:pPr>
            <a:endParaRPr lang="en-US"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19710" marR="107950" algn="just">
              <a:spcBef>
                <a:spcPts val="600"/>
              </a:spcBef>
              <a:buNone/>
            </a:pP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a:p>
            <a:pPr marL="219710" marR="107950" algn="just">
              <a:spcBef>
                <a:spcPts val="600"/>
              </a:spcBef>
              <a:buNone/>
            </a:pPr>
            <a:r>
              <a:rPr lang="en-US" sz="3200" dirty="0">
                <a:effectLst/>
                <a:latin typeface="Times New Roman" panose="02020603050405020304" pitchFamily="18" charset="0"/>
                <a:ea typeface="Times New Roman" panose="02020603050405020304" pitchFamily="18" charset="0"/>
              </a:rPr>
              <a:t>[6] </a:t>
            </a:r>
            <a:r>
              <a:rPr lang="en-US" sz="3200" dirty="0" err="1">
                <a:effectLst/>
                <a:latin typeface="Times New Roman" panose="02020603050405020304" pitchFamily="18" charset="0"/>
                <a:ea typeface="Times New Roman" panose="02020603050405020304" pitchFamily="18" charset="0"/>
              </a:rPr>
              <a:t>Hasanujjaman</a:t>
            </a:r>
            <a:r>
              <a:rPr lang="en-US" sz="3200" dirty="0">
                <a:effectLst/>
                <a:latin typeface="Times New Roman" panose="02020603050405020304" pitchFamily="18" charset="0"/>
                <a:ea typeface="Times New Roman" panose="02020603050405020304" pitchFamily="18" charset="0"/>
              </a:rPr>
              <a:t>, Muhammad, Mostafa Zaman Chowdhury, and Yeong Min Jang. "Sensor fusion in autonomous vehicle with traffic surveillance camera system: detection, localization, and AI networking." Sensors 23, no. 6 (2023): 3335. </a:t>
            </a:r>
            <a:endParaRPr lang="en-IN" sz="3200" dirty="0">
              <a:effectLst/>
              <a:latin typeface="Times New Roman" panose="02020603050405020304" pitchFamily="18" charset="0"/>
              <a:ea typeface="Times New Roman" panose="02020603050405020304" pitchFamily="18" charset="0"/>
            </a:endParaRPr>
          </a:p>
          <a:p>
            <a:pPr marL="219710" marR="107950" algn="just">
              <a:spcBef>
                <a:spcPts val="600"/>
              </a:spcBef>
              <a:buNone/>
            </a:pPr>
            <a:r>
              <a:rPr lang="en-US" sz="3200" dirty="0">
                <a:effectLst/>
                <a:latin typeface="Times New Roman" panose="02020603050405020304" pitchFamily="18" charset="0"/>
                <a:ea typeface="Times New Roman" panose="02020603050405020304" pitchFamily="18" charset="0"/>
              </a:rPr>
              <a:t>[7] Hacohen, Shlomi, Oded Medina, and Shraga Shoval. "Autonomous driving: A survey of technological gaps using google scholar and web of science trend analysis." IEEE Transactions on Intelligent Transportation Systems 23, no. 11 (2022): 21241-21258. </a:t>
            </a:r>
            <a:endParaRPr lang="en-IN" sz="3200" dirty="0">
              <a:effectLst/>
              <a:latin typeface="Times New Roman" panose="02020603050405020304" pitchFamily="18" charset="0"/>
              <a:ea typeface="Times New Roman" panose="02020603050405020304" pitchFamily="18" charset="0"/>
            </a:endParaRPr>
          </a:p>
          <a:p>
            <a:pPr marL="219710" marR="107950" algn="just">
              <a:spcBef>
                <a:spcPts val="600"/>
              </a:spcBef>
              <a:buNone/>
            </a:pPr>
            <a:r>
              <a:rPr lang="en-US" sz="3200" dirty="0">
                <a:effectLst/>
                <a:latin typeface="Times New Roman" panose="02020603050405020304" pitchFamily="18" charset="0"/>
                <a:ea typeface="Times New Roman" panose="02020603050405020304" pitchFamily="18" charset="0"/>
              </a:rPr>
              <a:t>[8] Mahima, KT Yasas, Asanka G. Perera, </a:t>
            </a:r>
            <a:r>
              <a:rPr lang="en-US" sz="3200" dirty="0" err="1">
                <a:effectLst/>
                <a:latin typeface="Times New Roman" panose="02020603050405020304" pitchFamily="18" charset="0"/>
                <a:ea typeface="Times New Roman" panose="02020603050405020304" pitchFamily="18" charset="0"/>
              </a:rPr>
              <a:t>Sreenatha</a:t>
            </a: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Anavatti</a:t>
            </a:r>
            <a:r>
              <a:rPr lang="en-US" sz="3200" dirty="0">
                <a:effectLst/>
                <a:latin typeface="Times New Roman" panose="02020603050405020304" pitchFamily="18" charset="0"/>
                <a:ea typeface="Times New Roman" panose="02020603050405020304" pitchFamily="18" charset="0"/>
              </a:rPr>
              <a:t>, and Matt Garratt. "Toward robust 3d perception for autonomous vehicles: A review of adversarial attacks and countermeasures." IEEE Transactions on Intelligent Transportation Systems (2024). </a:t>
            </a:r>
            <a:endParaRPr lang="en-IN" sz="3200" dirty="0">
              <a:effectLst/>
              <a:latin typeface="Times New Roman" panose="02020603050405020304" pitchFamily="18" charset="0"/>
              <a:ea typeface="Times New Roman" panose="02020603050405020304" pitchFamily="18" charset="0"/>
            </a:endParaRPr>
          </a:p>
          <a:p>
            <a:pPr marL="219710" marR="107950" algn="just">
              <a:spcBef>
                <a:spcPts val="600"/>
              </a:spcBef>
              <a:buNone/>
            </a:pPr>
            <a:r>
              <a:rPr lang="en-US" sz="3200" dirty="0">
                <a:effectLst/>
                <a:latin typeface="Times New Roman" panose="02020603050405020304" pitchFamily="18" charset="0"/>
                <a:ea typeface="Times New Roman" panose="02020603050405020304" pitchFamily="18" charset="0"/>
              </a:rPr>
              <a:t>[9] Huang, Kun, Yifu Wang, </a:t>
            </a:r>
            <a:r>
              <a:rPr lang="en-US" sz="3200" dirty="0" err="1">
                <a:effectLst/>
                <a:latin typeface="Times New Roman" panose="02020603050405020304" pitchFamily="18" charset="0"/>
                <a:ea typeface="Times New Roman" panose="02020603050405020304" pitchFamily="18" charset="0"/>
              </a:rPr>
              <a:t>Si'ao</a:t>
            </a:r>
            <a:r>
              <a:rPr lang="en-US" sz="3200" dirty="0">
                <a:effectLst/>
                <a:latin typeface="Times New Roman" panose="02020603050405020304" pitchFamily="18" charset="0"/>
                <a:ea typeface="Times New Roman" panose="02020603050405020304" pitchFamily="18" charset="0"/>
              </a:rPr>
              <a:t> Zhang, </a:t>
            </a:r>
            <a:r>
              <a:rPr lang="en-US" sz="3200" dirty="0" err="1">
                <a:effectLst/>
                <a:latin typeface="Times New Roman" panose="02020603050405020304" pitchFamily="18" charset="0"/>
                <a:ea typeface="Times New Roman" panose="02020603050405020304" pitchFamily="18" charset="0"/>
              </a:rPr>
              <a:t>Zhirui</a:t>
            </a:r>
            <a:r>
              <a:rPr lang="en-US" sz="3200" dirty="0">
                <a:effectLst/>
                <a:latin typeface="Times New Roman" panose="02020603050405020304" pitchFamily="18" charset="0"/>
                <a:ea typeface="Times New Roman" panose="02020603050405020304" pitchFamily="18" charset="0"/>
              </a:rPr>
              <a:t> Wang, </a:t>
            </a:r>
            <a:r>
              <a:rPr lang="en-US" sz="3200" dirty="0" err="1">
                <a:effectLst/>
                <a:latin typeface="Times New Roman" panose="02020603050405020304" pitchFamily="18" charset="0"/>
                <a:ea typeface="Times New Roman" panose="02020603050405020304" pitchFamily="18" charset="0"/>
              </a:rPr>
              <a:t>Zhanpeng</a:t>
            </a:r>
            <a:r>
              <a:rPr lang="en-US" sz="3200" dirty="0">
                <a:effectLst/>
                <a:latin typeface="Times New Roman" panose="02020603050405020304" pitchFamily="18" charset="0"/>
                <a:ea typeface="Times New Roman" panose="02020603050405020304" pitchFamily="18" charset="0"/>
              </a:rPr>
              <a:t> Ouyang, </a:t>
            </a:r>
            <a:r>
              <a:rPr lang="en-US" sz="3200" dirty="0" err="1">
                <a:effectLst/>
                <a:latin typeface="Times New Roman" panose="02020603050405020304" pitchFamily="18" charset="0"/>
                <a:ea typeface="Times New Roman" panose="02020603050405020304" pitchFamily="18" charset="0"/>
              </a:rPr>
              <a:t>Zhenghua</a:t>
            </a:r>
            <a:r>
              <a:rPr lang="en-US" sz="3200" dirty="0">
                <a:effectLst/>
                <a:latin typeface="Times New Roman" panose="02020603050405020304" pitchFamily="18" charset="0"/>
                <a:ea typeface="Times New Roman" panose="02020603050405020304" pitchFamily="18" charset="0"/>
              </a:rPr>
              <a:t> Yu, and Laurent Kneip. "</a:t>
            </a:r>
            <a:r>
              <a:rPr lang="en-US" sz="3200" dirty="0" err="1">
                <a:effectLst/>
                <a:latin typeface="Times New Roman" panose="02020603050405020304" pitchFamily="18" charset="0"/>
                <a:ea typeface="Times New Roman" panose="02020603050405020304" pitchFamily="18" charset="0"/>
              </a:rPr>
              <a:t>OpenGV</a:t>
            </a:r>
            <a:r>
              <a:rPr lang="en-US" sz="3200" dirty="0">
                <a:effectLst/>
                <a:latin typeface="Times New Roman" panose="02020603050405020304" pitchFamily="18" charset="0"/>
                <a:ea typeface="Times New Roman" panose="02020603050405020304" pitchFamily="18" charset="0"/>
              </a:rPr>
              <a:t> 2.0: Motion prior-assisted calibration and SLAM with vehicle-mounted surround-view systems." </a:t>
            </a:r>
            <a:r>
              <a:rPr lang="en-US" sz="3200" dirty="0" err="1">
                <a:effectLst/>
                <a:latin typeface="Times New Roman" panose="02020603050405020304" pitchFamily="18" charset="0"/>
                <a:ea typeface="Times New Roman" panose="02020603050405020304" pitchFamily="18" charset="0"/>
              </a:rPr>
              <a:t>arXiv</a:t>
            </a:r>
            <a:r>
              <a:rPr lang="en-US" sz="3200" dirty="0">
                <a:effectLst/>
                <a:latin typeface="Times New Roman" panose="02020603050405020304" pitchFamily="18" charset="0"/>
                <a:ea typeface="Times New Roman" panose="02020603050405020304" pitchFamily="18" charset="0"/>
              </a:rPr>
              <a:t> preprint arXiv:2503.03230 (2025). </a:t>
            </a:r>
            <a:endParaRPr lang="en-IN" sz="3200" dirty="0">
              <a:latin typeface="Times New Roman" panose="02020603050405020304" pitchFamily="18" charset="0"/>
              <a:ea typeface="Times New Roman" panose="02020603050405020304" pitchFamily="18" charset="0"/>
            </a:endParaRPr>
          </a:p>
          <a:p>
            <a:pPr marL="219710" marR="107950" algn="just">
              <a:spcBef>
                <a:spcPts val="600"/>
              </a:spcBef>
              <a:buNone/>
            </a:pPr>
            <a:r>
              <a:rPr lang="en-US" sz="3200" dirty="0">
                <a:effectLst/>
                <a:latin typeface="Times New Roman" panose="02020603050405020304" pitchFamily="18" charset="0"/>
                <a:ea typeface="Times New Roman" panose="02020603050405020304" pitchFamily="18" charset="0"/>
              </a:rPr>
              <a:t>[10] Yan, Shen, </a:t>
            </a:r>
            <a:r>
              <a:rPr lang="en-US" sz="3200" dirty="0" err="1">
                <a:effectLst/>
                <a:latin typeface="Times New Roman" panose="02020603050405020304" pitchFamily="18" charset="0"/>
                <a:ea typeface="Times New Roman" panose="02020603050405020304" pitchFamily="18" charset="0"/>
              </a:rPr>
              <a:t>Maojun</a:t>
            </a:r>
            <a:r>
              <a:rPr lang="en-US" sz="3200" dirty="0">
                <a:effectLst/>
                <a:latin typeface="Times New Roman" panose="02020603050405020304" pitchFamily="18" charset="0"/>
                <a:ea typeface="Times New Roman" panose="02020603050405020304" pitchFamily="18" charset="0"/>
              </a:rPr>
              <a:t> Zhang, Yang Peng, Yu Liu, and Hanlin Tan. "Agenti2p: Optimizing image-to-point cloud registration via </a:t>
            </a:r>
            <a:r>
              <a:rPr lang="en-US" sz="3200" dirty="0" err="1">
                <a:effectLst/>
                <a:latin typeface="Times New Roman" panose="02020603050405020304" pitchFamily="18" charset="0"/>
                <a:ea typeface="Times New Roman" panose="02020603050405020304" pitchFamily="18" charset="0"/>
              </a:rPr>
              <a:t>behaviour</a:t>
            </a:r>
            <a:r>
              <a:rPr lang="en-US" sz="3200" dirty="0">
                <a:effectLst/>
                <a:latin typeface="Times New Roman" panose="02020603050405020304" pitchFamily="18" charset="0"/>
                <a:ea typeface="Times New Roman" panose="02020603050405020304" pitchFamily="18" charset="0"/>
              </a:rPr>
              <a:t> cloning and reinforcement learning." Remote Sensing 14, no. 24 (2022): 6301.</a:t>
            </a:r>
            <a:endParaRPr lang="en-IN" sz="3200" dirty="0">
              <a:effectLst/>
              <a:latin typeface="Times New Roman" panose="02020603050405020304" pitchFamily="18" charset="0"/>
              <a:ea typeface="Times New Roman" panose="02020603050405020304" pitchFamily="18" charset="0"/>
            </a:endParaRPr>
          </a:p>
          <a:p>
            <a:pPr marL="571500" lvl="1" indent="0">
              <a:buNone/>
            </a:pPr>
            <a:endParaRPr lang="en-US" sz="3200" b="1" dirty="0">
              <a:latin typeface="Times New Roman" panose="02020603050405020304" pitchFamily="18" charset="0"/>
              <a:cs typeface="Times New Roman" panose="02020603050405020304" pitchFamily="18" charset="0"/>
            </a:endParaRPr>
          </a:p>
        </p:txBody>
      </p:sp>
      <p:pic>
        <p:nvPicPr>
          <p:cNvPr id="107" name="Google Shape;107;p5">
            <a:extLst>
              <a:ext uri="{FF2B5EF4-FFF2-40B4-BE49-F238E27FC236}">
                <a16:creationId xmlns:a16="http://schemas.microsoft.com/office/drawing/2014/main" id="{E558C037-BBD0-7641-6C95-F99DEF6C684A}"/>
              </a:ext>
            </a:extLst>
          </p:cNvPr>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a:extLst>
              <a:ext uri="{FF2B5EF4-FFF2-40B4-BE49-F238E27FC236}">
                <a16:creationId xmlns:a16="http://schemas.microsoft.com/office/drawing/2014/main" id="{BD941F2B-280C-17DD-3F2B-AA2992528041}"/>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9" name="Google Shape;109;p5">
            <a:extLst>
              <a:ext uri="{FF2B5EF4-FFF2-40B4-BE49-F238E27FC236}">
                <a16:creationId xmlns:a16="http://schemas.microsoft.com/office/drawing/2014/main" id="{2345174F-36C7-F55F-63FC-0F8D98F5CCEE}"/>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0" name="Google Shape;110;p5">
            <a:extLst>
              <a:ext uri="{FF2B5EF4-FFF2-40B4-BE49-F238E27FC236}">
                <a16:creationId xmlns:a16="http://schemas.microsoft.com/office/drawing/2014/main" id="{53C550E9-997C-7799-265A-8D74E8752E15}"/>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24529284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TotalTime>
  <Words>1688</Words>
  <Application>Microsoft Office PowerPoint</Application>
  <PresentationFormat>On-screen Show (4:3)</PresentationFormat>
  <Paragraphs>71</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Source Sans Pro</vt:lpstr>
      <vt:lpstr>Symbol</vt:lpstr>
      <vt:lpstr>Times New Roman</vt:lpstr>
      <vt:lpstr>Office Theme</vt:lpstr>
      <vt:lpstr>  Real-Time Object Detection and Distance Mapping </vt:lpstr>
      <vt:lpstr>      </vt:lpstr>
      <vt:lpstr>      </vt:lpstr>
      <vt:lpstr>      </vt:lpstr>
      <vt:lpstr>PowerPoint Presentation</vt:lpstr>
      <vt:lpstr>PowerPoint Presentation</vt:lpstr>
      <vt:lpstr>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Saketh Kinthali</cp:lastModifiedBy>
  <cp:revision>32</cp:revision>
  <dcterms:created xsi:type="dcterms:W3CDTF">2020-05-13T07:00:09Z</dcterms:created>
  <dcterms:modified xsi:type="dcterms:W3CDTF">2025-05-06T17:17:01Z</dcterms:modified>
</cp:coreProperties>
</file>