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99" r:id="rId6"/>
    <p:sldId id="300" r:id="rId7"/>
    <p:sldId id="292" r:id="rId8"/>
    <p:sldId id="301" r:id="rId9"/>
    <p:sldId id="270" r:id="rId10"/>
    <p:sldId id="271" r:id="rId11"/>
  </p:sldIdLst>
  <p:sldSz cx="9144000" cy="5143500" type="screen16x9"/>
  <p:notesSz cx="6858000" cy="9144000"/>
  <p:embeddedFontLst>
    <p:embeddedFont>
      <p:font typeface="Source Sans Pro" panose="020B0503030403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F880E66-F3ED-471F-8734-495FB9488F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F3F17106-8233-4072-B834-E6E4BBDCDE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0139" autoAdjust="0"/>
  </p:normalViewPr>
  <p:slideViewPr>
    <p:cSldViewPr snapToGrid="0">
      <p:cViewPr varScale="1">
        <p:scale>
          <a:sx n="102" d="100"/>
          <a:sy n="102" d="100"/>
        </p:scale>
        <p:origin x="1157" y="67"/>
      </p:cViewPr>
      <p:guideLst>
        <p:guide orient="horz" pos="161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h Kinthali" userId="bd8874b480c7939f" providerId="LiveId" clId="{5A357EDC-B14F-4E92-A284-D2D1A4D4D03A}"/>
    <pc:docChg chg="modSld">
      <pc:chgData name="Saketh Kinthali" userId="bd8874b480c7939f" providerId="LiveId" clId="{5A357EDC-B14F-4E92-A284-D2D1A4D4D03A}" dt="2025-05-06T16:58:55.174" v="6" actId="1076"/>
      <pc:docMkLst>
        <pc:docMk/>
      </pc:docMkLst>
      <pc:sldChg chg="modSp mod">
        <pc:chgData name="Saketh Kinthali" userId="bd8874b480c7939f" providerId="LiveId" clId="{5A357EDC-B14F-4E92-A284-D2D1A4D4D03A}" dt="2025-05-06T16:58:55.174" v="6" actId="1076"/>
        <pc:sldMkLst>
          <pc:docMk/>
          <pc:sldMk cId="0" sldId="256"/>
        </pc:sldMkLst>
        <pc:spChg chg="mod">
          <ac:chgData name="Saketh Kinthali" userId="bd8874b480c7939f" providerId="LiveId" clId="{5A357EDC-B14F-4E92-A284-D2D1A4D4D03A}" dt="2025-05-06T16:58:55.174" v="6" actId="1076"/>
          <ac:spMkLst>
            <pc:docMk/>
            <pc:sldMk cId="0" sldId="256"/>
            <ac:spMk id="64" creationId="{00000000-0000-0000-0000-000000000000}"/>
          </ac:spMkLst>
        </pc:spChg>
      </pc:sldChg>
    </pc:docChg>
  </pc:docChgLst>
  <pc:docChgLst>
    <pc:chgData name="Saketh Kinthali" userId="bd8874b480c7939f" providerId="LiveId" clId="{D5B33C7A-9D11-42E6-9CE1-53CD198E32B4}"/>
    <pc:docChg chg="modSld">
      <pc:chgData name="Saketh Kinthali" userId="bd8874b480c7939f" providerId="LiveId" clId="{D5B33C7A-9D11-42E6-9CE1-53CD198E32B4}" dt="2025-04-04T19:23:36.689" v="27" actId="20577"/>
      <pc:docMkLst>
        <pc:docMk/>
      </pc:docMkLst>
      <pc:sldChg chg="modSp mod">
        <pc:chgData name="Saketh Kinthali" userId="bd8874b480c7939f" providerId="LiveId" clId="{D5B33C7A-9D11-42E6-9CE1-53CD198E32B4}" dt="2025-04-04T19:23:36.689" v="27" actId="20577"/>
        <pc:sldMkLst>
          <pc:docMk/>
          <pc:sldMk cId="0" sldId="256"/>
        </pc:sldMkLst>
        <pc:spChg chg="mod">
          <ac:chgData name="Saketh Kinthali" userId="bd8874b480c7939f" providerId="LiveId" clId="{D5B33C7A-9D11-42E6-9CE1-53CD198E32B4}" dt="2025-04-04T19:23:36.689" v="27" actId="20577"/>
          <ac:spMkLst>
            <pc:docMk/>
            <pc:sldMk cId="0" sldId="256"/>
            <ac:spMk id="6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c8fb098ac3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c8fb098ac3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8fb098ac3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c8fb098ac3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c8fb098ac3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c8fb098ac3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ADD26E64-F1E0-32B7-CAB3-1CE1EF6E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c8fb098ac3_1_39:notes">
            <a:extLst>
              <a:ext uri="{FF2B5EF4-FFF2-40B4-BE49-F238E27FC236}">
                <a16:creationId xmlns:a16="http://schemas.microsoft.com/office/drawing/2014/main" id="{569D4F01-9B0B-6CAB-A690-BE4DB3D1B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c8fb098ac3_1_39:notes">
            <a:extLst>
              <a:ext uri="{FF2B5EF4-FFF2-40B4-BE49-F238E27FC236}">
                <a16:creationId xmlns:a16="http://schemas.microsoft.com/office/drawing/2014/main" id="{B72B4A9B-258F-40E2-D3CD-72BE9E329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3085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BFDE-BE86-A616-F69E-3C841C4E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8ED3B-6340-D86E-CE2F-B80534A52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321A2-970A-18DB-9545-BF3D414E2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51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A79BB-FD15-EB38-85CA-5D3764D0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33C6D-74A4-EBD7-34F1-A3B5085E2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530D3-725D-47F2-AE1B-0BEE291B2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57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c8fb098ac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c8fb098ac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c8fb098ac3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c8fb098ac3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66650" y="218750"/>
            <a:ext cx="4779000" cy="97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065" marR="508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1394D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SRM INSTITUTE OF SCIENCE AND TECHNOLOGY</a:t>
            </a:r>
            <a:endParaRPr sz="1100" b="1">
              <a:solidFill>
                <a:schemeClr val="dk1"/>
              </a:solidFill>
              <a:latin typeface="Times New Roman" panose="02020603050405020304" pitchFamily="18" charset="0"/>
              <a:ea typeface="Tahoma" panose="020B0604030504040204"/>
              <a:cs typeface="Times New Roman" panose="02020603050405020304" pitchFamily="18" charset="0"/>
              <a:sym typeface="Tahoma" panose="020B0604030504040204"/>
            </a:endParaRPr>
          </a:p>
          <a:p>
            <a:pPr marL="12065" marR="508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1394D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SCHOOL OF COMPUTING</a:t>
            </a:r>
            <a:endParaRPr sz="1100" b="1">
              <a:solidFill>
                <a:schemeClr val="dk1"/>
              </a:solidFill>
              <a:latin typeface="Times New Roman" panose="02020603050405020304" pitchFamily="18" charset="0"/>
              <a:ea typeface="Tahoma" panose="020B0604030504040204"/>
              <a:cs typeface="Times New Roman" panose="02020603050405020304" pitchFamily="18" charset="0"/>
              <a:sym typeface="Tahoma" panose="020B0604030504040204"/>
            </a:endParaRPr>
          </a:p>
          <a:p>
            <a:pPr marL="12065" marR="508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1394D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DEPARTMENT OF COMPUTING TECHNOLOGIES</a:t>
            </a:r>
            <a:endParaRPr sz="1100" b="1">
              <a:solidFill>
                <a:schemeClr val="dk1"/>
              </a:solidFill>
              <a:latin typeface="Times New Roman" panose="02020603050405020304" pitchFamily="18" charset="0"/>
              <a:ea typeface="Tahoma" panose="020B0604030504040204"/>
              <a:cs typeface="Times New Roman" panose="02020603050405020304" pitchFamily="18" charset="0"/>
              <a:sym typeface="Tahoma" panose="020B0604030504040204"/>
            </a:endParaRPr>
          </a:p>
          <a:p>
            <a:pPr marL="12065" marR="508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18CSP109L- MAJOR PROJECT 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70327" y="4040151"/>
            <a:ext cx="3610500" cy="85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 panose="020B0604020202020204"/>
              <a:buNone/>
            </a:pPr>
            <a:r>
              <a:rPr lang="en-GB" sz="1100" dirty="0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TEAM : BATCH ID - 1</a:t>
            </a:r>
            <a:endParaRPr sz="1100" dirty="0">
              <a:solidFill>
                <a:schemeClr val="dk1"/>
              </a:solidFill>
              <a:latin typeface="Times New Roman" panose="02020603050405020304" pitchFamily="18" charset="0"/>
              <a:ea typeface="Tahoma" panose="020B0604030504040204"/>
              <a:cs typeface="Times New Roman" panose="02020603050405020304" pitchFamily="18" charset="0"/>
              <a:sym typeface="Tahoma" panose="020B0604030504040204"/>
            </a:endParaRPr>
          </a:p>
          <a:p>
            <a:pPr marL="12700" marR="5080">
              <a:lnSpc>
                <a:spcPct val="140000"/>
              </a:lnSpc>
              <a:spcBef>
                <a:spcPts val="115"/>
              </a:spcBef>
            </a:pPr>
            <a:r>
              <a:rPr lang="en-GB" sz="1100" dirty="0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Student 1: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KINTHALI SAKETH (RA2111003011009)</a:t>
            </a:r>
          </a:p>
          <a:p>
            <a:pPr marL="12700" marR="5080" lvl="0" indent="0" algn="l" rtl="0">
              <a:lnSpc>
                <a:spcPct val="14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1100" dirty="0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Student 2: PUDI SAI KRISHANA (RA2111003011033)</a:t>
            </a:r>
            <a:endParaRPr sz="1100" dirty="0">
              <a:solidFill>
                <a:schemeClr val="dk1"/>
              </a:solidFill>
              <a:latin typeface="Times New Roman" panose="02020603050405020304" pitchFamily="18" charset="0"/>
              <a:ea typeface="Tahoma" panose="020B0604030504040204"/>
              <a:cs typeface="Times New Roman" panose="02020603050405020304" pitchFamily="18" charset="0"/>
              <a:sym typeface="Tahoma" panose="020B0604030504040204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6229350" y="4030775"/>
            <a:ext cx="2678050" cy="88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1100" dirty="0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Project Guide Name: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V. Raghavendra </a:t>
            </a:r>
            <a:endParaRPr sz="1100" dirty="0">
              <a:solidFill>
                <a:schemeClr val="dk1"/>
              </a:solidFill>
              <a:latin typeface="Times New Roman" panose="02020603050405020304" pitchFamily="18" charset="0"/>
              <a:ea typeface="Tahoma" panose="020B0604030504040204"/>
              <a:cs typeface="Times New Roman" panose="02020603050405020304" pitchFamily="18" charset="0"/>
              <a:sym typeface="Tahoma" panose="020B0604030504040204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1100" dirty="0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/>
                <a:cs typeface="Times New Roman" panose="02020603050405020304" pitchFamily="18" charset="0"/>
                <a:sym typeface="Tahoma" panose="020B0604030504040204"/>
              </a:rPr>
              <a:t>Designation: </a:t>
            </a:r>
            <a:r>
              <a:rPr lang="en-IN" sz="1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Assistant Professor</a:t>
            </a:r>
          </a:p>
          <a:p>
            <a:pPr marL="12700" marR="508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Computing Technologies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/>
              <a:cs typeface="Times New Roman" panose="02020603050405020304" pitchFamily="18" charset="0"/>
              <a:sym typeface="Tahoma" panose="020B0604030504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206943" y="1796277"/>
            <a:ext cx="6948880" cy="118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Bef>
                <a:spcPts val="70"/>
              </a:spcBef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 Object Detection and Distance Mapping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80174" y="1271295"/>
            <a:ext cx="70512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02640" lvl="0" indent="-581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GB" sz="19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work</a:t>
            </a:r>
          </a:p>
          <a:p>
            <a:pPr marL="802640" lvl="0" indent="-581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altLang="en-GB" sz="19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Scrum</a:t>
            </a:r>
            <a:endParaRPr lang="en-GB" sz="19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2640" lvl="0" indent="-581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</a:p>
          <a:p>
            <a:pPr marL="802640" indent="-581025">
              <a:buClr>
                <a:schemeClr val="dk1"/>
              </a:buClr>
              <a:buSzPts val="1900"/>
              <a:buFont typeface="Arial" panose="020B0604020202020204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"/>
                <a:cs typeface="Times New Roman" panose="02020603050405020304" pitchFamily="18" charset="0"/>
              </a:rPr>
              <a:t>Module Description</a:t>
            </a:r>
            <a:endParaRPr lang="en-US" sz="19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2640" lvl="0" indent="-581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 Case </a:t>
            </a:r>
          </a:p>
          <a:p>
            <a:pPr marL="802640" lvl="0" indent="-581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</a:p>
          <a:p>
            <a:pPr marL="802640" lvl="0" indent="-581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 idx="4294967295"/>
          </p:nvPr>
        </p:nvSpPr>
        <p:spPr>
          <a:xfrm>
            <a:off x="2988473" y="445973"/>
            <a:ext cx="40698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300" dirty="0">
                <a:latin typeface="Times New Roman" panose="02020603050405020304" pitchFamily="18" charset="0"/>
                <a:ea typeface="Lucida Sans" panose="020B0602030504020204"/>
                <a:cs typeface="Times New Roman" panose="02020603050405020304" pitchFamily="18" charset="0"/>
                <a:sym typeface="Lucida Sans" panose="020B0602030504020204"/>
              </a:rPr>
              <a:t>Table of Contents</a:t>
            </a:r>
            <a:endParaRPr sz="3300" dirty="0">
              <a:latin typeface="Times New Roman" panose="02020603050405020304" pitchFamily="18" charset="0"/>
              <a:ea typeface="Lucida Sans" panose="020B0602030504020204"/>
              <a:cs typeface="Times New Roman" panose="02020603050405020304" pitchFamily="18" charset="0"/>
              <a:sym typeface="Lucida Sans" panose="020B0602030504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95250" y="955475"/>
            <a:ext cx="877667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buClr>
                <a:srgbClr val="202122"/>
              </a:buClr>
              <a:buSzPts val="2000"/>
              <a:buChar char="●"/>
            </a:pPr>
            <a:endParaRPr lang="en-GB" sz="2000" dirty="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 idx="4294967295"/>
          </p:nvPr>
        </p:nvSpPr>
        <p:spPr>
          <a:xfrm>
            <a:off x="2623718" y="371382"/>
            <a:ext cx="5547711" cy="51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300" dirty="0">
                <a:latin typeface="Times New Roman" panose="02020603050405020304" pitchFamily="18" charset="0"/>
                <a:ea typeface="Lucida Sans" panose="020B0602030504020204"/>
                <a:cs typeface="Times New Roman" panose="02020603050405020304" pitchFamily="18" charset="0"/>
                <a:sym typeface="Lucida Sans" panose="020B0602030504020204"/>
              </a:rPr>
              <a:t>Objective of the work</a:t>
            </a:r>
            <a:endParaRPr sz="3300" dirty="0">
              <a:latin typeface="Times New Roman" panose="02020603050405020304" pitchFamily="18" charset="0"/>
              <a:ea typeface="Lucida Sans" panose="020B0602030504020204"/>
              <a:cs typeface="Times New Roman" panose="02020603050405020304" pitchFamily="18" charset="0"/>
              <a:sym typeface="Lucida Sans" panose="020B0602030504020204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7E8BCBB-EA6D-3A53-9B3D-9EB2B7598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75" y="747711"/>
            <a:ext cx="8489677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Object Detection System using YOLOv8 to identify objects in images and videos.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Object Detection using a webcam feed for dynamic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Distance Measurement to estimate object proximity and enhance safety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 Pre-trained YOLO Models (yolov8n.pt, yolov8m.pt) for accurate and efficient detection.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Video Streams to detect and track objects frame-by-frame.</a:t>
            </a:r>
            <a:endParaRPr lang="en-US" alt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Speech Output (pyttsx3) to provide audible feedback on detected objects.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COCO Dataset Categories for object classification and detection optimization.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with Convolutional Techniques (conv.py) for better feature extraction.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Detection Performance by adjusting frame rate, distance calculations, and pixel-to-meter conversion.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Scalable System that can be extended for applications like autonomous vehicles, surveillance, and smart assistance.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280193" y="953299"/>
            <a:ext cx="8583613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1-2: Research on YOLOv8 and dataset selection.</a:t>
            </a: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2-3: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object detection on static images.</a:t>
            </a: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3-5: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real-time detection with webcam input.</a:t>
            </a: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5-7: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distance estimation functionality.</a:t>
            </a: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7-8: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voice feedback using text-to-speech.</a:t>
            </a: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14350">
              <a:buSzPts val="27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8-10: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Finalizing documentation and result analysis.</a:t>
            </a:r>
          </a:p>
          <a:p>
            <a:pPr marL="571500" lvl="0" indent="-514350" algn="l" rtl="0">
              <a:spcBef>
                <a:spcPts val="0"/>
              </a:spcBef>
              <a:spcAft>
                <a:spcPts val="0"/>
              </a:spcAft>
              <a:buSzPts val="27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>
            <a:spLocks noGrp="1"/>
          </p:cNvSpPr>
          <p:nvPr>
            <p:ph type="title" idx="4294967295"/>
          </p:nvPr>
        </p:nvSpPr>
        <p:spPr>
          <a:xfrm>
            <a:off x="2623450" y="371910"/>
            <a:ext cx="406980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latin typeface="Times New Roman" panose="02020603050405020304" pitchFamily="18" charset="0"/>
                <a:ea typeface="Lucida Sans" panose="020B0602030504020204"/>
                <a:cs typeface="Times New Roman" panose="02020603050405020304" pitchFamily="18" charset="0"/>
                <a:sym typeface="Lucida Sans" panose="020B0602030504020204"/>
              </a:rPr>
              <a:t>Daily Scrum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E52D711-989B-B4AF-E69A-FDE7328B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>
            <a:extLst>
              <a:ext uri="{FF2B5EF4-FFF2-40B4-BE49-F238E27FC236}">
                <a16:creationId xmlns:a16="http://schemas.microsoft.com/office/drawing/2014/main" id="{86CF19E0-B566-1C21-43C4-715E5C8F981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>
            <a:extLst>
              <a:ext uri="{FF2B5EF4-FFF2-40B4-BE49-F238E27FC236}">
                <a16:creationId xmlns:a16="http://schemas.microsoft.com/office/drawing/2014/main" id="{54CFF3FC-EB26-BB2C-F2DC-A95D041C0E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66350" y="295563"/>
            <a:ext cx="406980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300" dirty="0">
                <a:latin typeface="Times New Roman" panose="02020603050405020304" pitchFamily="18" charset="0"/>
                <a:ea typeface="Lucida Sans" panose="020B0602030504020204"/>
                <a:cs typeface="Times New Roman" panose="02020603050405020304" pitchFamily="18" charset="0"/>
                <a:sym typeface="Lucida Sans" panose="020B0602030504020204"/>
              </a:rPr>
              <a:t>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BE0795-5F1A-1364-9C7B-C448655FC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547"/>
            <a:ext cx="8461948" cy="37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2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1F48-A0E9-A081-1820-B42ACC0F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8ACF-BF9F-12D3-BB25-2C55192B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586" y="312855"/>
            <a:ext cx="4525645" cy="572770"/>
          </a:xfrm>
        </p:spPr>
        <p:txBody>
          <a:bodyPr>
            <a:noAutofit/>
          </a:bodyPr>
          <a:lstStyle/>
          <a:p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B102B-483C-022F-0E23-3847A9C9F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641" y="1008705"/>
            <a:ext cx="8726805" cy="391604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conv.py - Implements convolutional layers and enhancements for deep learning models.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detection.py - Performs object detection on static images using YOLOv8.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time.py - Implements real-time object detection with voice alerts and distance measurement.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test4.py - Detects and tracks objects in a video with YOLOv8.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with distance.py - Processes video files, detects objects, and calculates distances.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1;p18">
            <a:extLst>
              <a:ext uri="{FF2B5EF4-FFF2-40B4-BE49-F238E27FC236}">
                <a16:creationId xmlns:a16="http://schemas.microsoft.com/office/drawing/2014/main" id="{2DB2DAC0-6369-6DD1-8BF6-20534A1B820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27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05" y="312855"/>
            <a:ext cx="3504089" cy="572770"/>
          </a:xfrm>
        </p:spPr>
        <p:txBody>
          <a:bodyPr>
            <a:noAutofit/>
          </a:bodyPr>
          <a:lstStyle/>
          <a:p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Test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073" y="1058420"/>
            <a:ext cx="8726805" cy="3772225"/>
          </a:xfrm>
        </p:spPr>
        <p:txBody>
          <a:bodyPr>
            <a:normAutofit fontScale="75000" lnSpcReduction="2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1: Verify that the YOLOv8 model loads successfully.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 The model is initialized without errors and ready for object detection.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2: Detect objects in a given image.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 The model correctly identifies and labels objects present in the image.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3: Perform real-time object detection using a webcam.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 The system detects and labels objects dynamically in the live video feed.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4: Measure the distance of detected objects.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 The system accurately calculates and displays the distance between the camera and detected objects.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5: Provide voice feedback for detected objects.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 The system audibly announces detected objects using text-to-speech 			conversion.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1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CCAE-56D3-583D-8EC1-F66625F1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ACE2-77C7-8D9C-D76F-AE03CD3A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449" y="312855"/>
            <a:ext cx="5025708" cy="572770"/>
          </a:xfrm>
        </p:spPr>
        <p:txBody>
          <a:bodyPr>
            <a:noAutofit/>
          </a:bodyPr>
          <a:lstStyle/>
          <a:p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902D7-590E-3C28-5947-F72AB50E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85" y="1152525"/>
            <a:ext cx="8726805" cy="3916045"/>
          </a:xfrm>
        </p:spPr>
        <p:txBody>
          <a:bodyPr>
            <a:normAutofit fontScale="975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 detection system successfully detects objects in real-time and from static images.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measurement works well for known object sizes and focal length.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voice feedback system announces detected objects correctly.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performs efficiently, with an acceptable detection speed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1;p18">
            <a:extLst>
              <a:ext uri="{FF2B5EF4-FFF2-40B4-BE49-F238E27FC236}">
                <a16:creationId xmlns:a16="http://schemas.microsoft.com/office/drawing/2014/main" id="{F9B1C034-74AA-A224-2F8C-58434EB302B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449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395550" y="931275"/>
            <a:ext cx="835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8"/>
          <p:cNvSpPr txBox="1"/>
          <p:nvPr/>
        </p:nvSpPr>
        <p:spPr>
          <a:xfrm>
            <a:off x="478557" y="1254468"/>
            <a:ext cx="83529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>
              <a:buClr>
                <a:schemeClr val="dk1"/>
              </a:buClr>
              <a:buSzPts val="1600"/>
              <a:buChar char="●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"YOLOv8-Lite: A Lightweight Object Detection Model for Real-time Autonomous Driving Systems."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IECE Transactions on Emerging Topics in Artificial 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no. 1 (2024): 1-16. </a:t>
            </a:r>
          </a:p>
          <a:p>
            <a:pPr marL="457200" lvl="0" indent="-330200">
              <a:buClr>
                <a:schemeClr val="dk1"/>
              </a:buClr>
              <a:buSzPts val="1600"/>
              <a:buChar char="●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Huadong, Binyu Wang,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Jiannan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Xiao, and Tianyu Zhu. "Improved small-object detection using YOLOv8: A comparative study."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and Computational Engineering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41 (2024): 80-88. </a:t>
            </a:r>
          </a:p>
          <a:p>
            <a:pPr marL="457200" lvl="0" indent="-330200">
              <a:buClr>
                <a:schemeClr val="dk1"/>
              </a:buClr>
              <a:buSzPts val="1600"/>
              <a:buChar char="●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Verma, Urvashi, Anshul Kalia, and Sumesh Sood. "YOLOV8: An Enhanced Object Detection Model for Distance Estimation."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Intelligent Systems and Applications in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12, no. 21s (2024): 3852.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>
              <a:buClr>
                <a:schemeClr val="dk1"/>
              </a:buClr>
              <a:buSzPts val="1600"/>
              <a:buChar char="●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Silva, Diego A., Kamilya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Smagulova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Ahmed Elsheikh, Mohammed E. Fouda, and Ahmed M.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Eltawil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"A Recurrent YOLOv8-based framework for Event-Based Object Detection."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arXiv:2408.05321 (2024). </a:t>
            </a:r>
          </a:p>
          <a:p>
            <a:pPr marL="457200" lvl="0" indent="-330200">
              <a:buClr>
                <a:schemeClr val="dk1"/>
              </a:buClr>
              <a:buSzPts val="1600"/>
              <a:buChar char="●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Gang, et al. "UAV-YOLOv8: A Small-Object-Detection Model Based on Improved YOLOv8 for UAV Aerial Photography Scenarios."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23.16 (2023): 7190. ​</a:t>
            </a:r>
          </a:p>
          <a:p>
            <a:pPr marL="457200" lvl="0" indent="-330200">
              <a:buClr>
                <a:schemeClr val="dk1"/>
              </a:buClr>
              <a:buSzPts val="1600"/>
              <a:buChar char="●"/>
            </a:pPr>
            <a:r>
              <a:rPr lang="en-US" dirty="0"/>
              <a:t>Wang, X. "BL-YOLOv8: An Improved Road Defect Detection Model Based on YOLOv8." </a:t>
            </a:r>
            <a:r>
              <a:rPr lang="en-US" i="1" dirty="0"/>
              <a:t>Sensors</a:t>
            </a:r>
            <a:r>
              <a:rPr lang="en-US" dirty="0"/>
              <a:t> 23.20 (2023): 8361. 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8" name="Google Shape;188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352" y="161450"/>
            <a:ext cx="1968300" cy="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81;p27"/>
          <p:cNvSpPr txBox="1"/>
          <p:nvPr/>
        </p:nvSpPr>
        <p:spPr>
          <a:xfrm>
            <a:off x="2407927" y="313825"/>
            <a:ext cx="4824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2700" algn="ctr"/>
            <a:r>
              <a:rPr lang="en-GB" sz="3300" dirty="0">
                <a:latin typeface="Times New Roman" panose="02020603050405020304" pitchFamily="18" charset="0"/>
                <a:ea typeface="Lucida Sans" panose="020B0602030504020204"/>
                <a:cs typeface="Times New Roman" panose="02020603050405020304" pitchFamily="18" charset="0"/>
                <a:sym typeface="Lucida Sans" panose="020B0602030504020204"/>
              </a:rPr>
              <a:t>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0327" y="218750"/>
            <a:ext cx="1968300" cy="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2277075" y="2083650"/>
            <a:ext cx="50574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767</Words>
  <Application>Microsoft Office PowerPoint</Application>
  <PresentationFormat>On-screen Show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Source Sans Pro</vt:lpstr>
      <vt:lpstr>Simple Light</vt:lpstr>
      <vt:lpstr>PowerPoint Presentation</vt:lpstr>
      <vt:lpstr>Table of Contents</vt:lpstr>
      <vt:lpstr>Objective of the work</vt:lpstr>
      <vt:lpstr>Daily Scrum</vt:lpstr>
      <vt:lpstr>Architecture</vt:lpstr>
      <vt:lpstr>Module Description</vt:lpstr>
      <vt:lpstr> Test Case</vt:lpstr>
      <vt:lpstr>Result Analysis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Saketh Kinthali</cp:lastModifiedBy>
  <cp:revision>33</cp:revision>
  <dcterms:created xsi:type="dcterms:W3CDTF">2023-02-16T13:28:00Z</dcterms:created>
  <dcterms:modified xsi:type="dcterms:W3CDTF">2025-05-06T17:01:07Z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2369EA8A5CC346EF89AA6EEA999D0E8E</vt:lpwstr>
  </property>
  <property fmtid="{D5CDD505-2E9C-101B-9397-08002B2CF9AE}" pid="3" name="KSOProductBuildVer">
    <vt:lpwstr>1033-11.2.0.11219</vt:lpwstr>
  </property>
</Properties>
</file>